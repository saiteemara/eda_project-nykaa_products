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Lst>
  <p:notesMasterIdLst>
    <p:notesMasterId r:id="rId22"/>
  </p:notesMasterIdLst>
  <p:sldIdLst>
    <p:sldId id="256" r:id="rId2"/>
    <p:sldId id="257" r:id="rId3"/>
    <p:sldId id="285" r:id="rId4"/>
    <p:sldId id="260" r:id="rId5"/>
    <p:sldId id="267" r:id="rId6"/>
    <p:sldId id="264" r:id="rId7"/>
    <p:sldId id="272" r:id="rId8"/>
    <p:sldId id="273" r:id="rId9"/>
    <p:sldId id="274" r:id="rId10"/>
    <p:sldId id="276" r:id="rId11"/>
    <p:sldId id="277" r:id="rId12"/>
    <p:sldId id="278" r:id="rId13"/>
    <p:sldId id="279" r:id="rId14"/>
    <p:sldId id="281" r:id="rId15"/>
    <p:sldId id="280" r:id="rId16"/>
    <p:sldId id="282" r:id="rId17"/>
    <p:sldId id="283" r:id="rId18"/>
    <p:sldId id="269" r:id="rId19"/>
    <p:sldId id="284" r:id="rId20"/>
    <p:sldId id="25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
      <p:font typeface="Lato Black" panose="020F0502020204030203" pitchFamily="34" charset="0"/>
      <p:bold r:id="rId27"/>
      <p:boldItalic r:id="rId28"/>
    </p:embeddedFont>
    <p:embeddedFont>
      <p:font typeface="Libre Baskerville" panose="02000000000000000000" pitchFamily="2" charset="0"/>
      <p:regular r:id="rId29"/>
      <p:bold r:id="rId30"/>
      <p:italic r:id="rId31"/>
    </p:embeddedFont>
    <p:embeddedFont>
      <p:font typeface="Wingdings 3" panose="05040102010807070707" pitchFamily="18" charset="2"/>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1FCFFB-68AC-410D-9865-F80F1835064E}" v="3" dt="2025-07-04T05:54:27.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customschemas.google.com/relationships/presentationmetadata" Target="meta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061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45748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02510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0228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91000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35818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2709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46377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154041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706357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1569508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4995006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5887879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122710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4830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44967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41665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7860907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634708" y="3815499"/>
            <a:ext cx="11261950" cy="1200288"/>
          </a:xfrm>
          <a:prstGeom prst="rect">
            <a:avLst/>
          </a:prstGeom>
          <a:noFill/>
          <a:ln>
            <a:noFill/>
          </a:ln>
        </p:spPr>
        <p:txBody>
          <a:bodyPr spcFirstLastPara="1" wrap="square" lIns="91425" tIns="45700" rIns="91425" bIns="45700" anchor="t" anchorCtr="0">
            <a:spAutoFit/>
          </a:bodyPr>
          <a:lstStyle/>
          <a:p>
            <a:pPr lvl="0" algn="ctr"/>
            <a:r>
              <a:rPr lang="en-US" sz="3600" b="1" dirty="0">
                <a:solidFill>
                  <a:schemeClr val="bg1"/>
                </a:solidFill>
                <a:latin typeface="Times New Roman" panose="02020603050405020304" pitchFamily="18" charset="0"/>
                <a:cs typeface="Times New Roman" panose="02020603050405020304" pitchFamily="18" charset="0"/>
              </a:rPr>
              <a:t>Scraping &amp; Analyzing </a:t>
            </a:r>
            <a:r>
              <a:rPr lang="en-US" sz="3600" b="1" dirty="0" err="1">
                <a:solidFill>
                  <a:schemeClr val="bg1"/>
                </a:solidFill>
                <a:latin typeface="Times New Roman" panose="02020603050405020304" pitchFamily="18" charset="0"/>
                <a:cs typeface="Times New Roman" panose="02020603050405020304" pitchFamily="18" charset="0"/>
              </a:rPr>
              <a:t>Nykaa</a:t>
            </a:r>
            <a:r>
              <a:rPr lang="en-US" sz="3600" b="1" dirty="0">
                <a:solidFill>
                  <a:schemeClr val="bg1"/>
                </a:solidFill>
                <a:latin typeface="Times New Roman" panose="02020603050405020304" pitchFamily="18" charset="0"/>
                <a:cs typeface="Times New Roman" panose="02020603050405020304" pitchFamily="18" charset="0"/>
              </a:rPr>
              <a:t> Products: </a:t>
            </a:r>
          </a:p>
          <a:p>
            <a:pPr lvl="0" algn="ctr"/>
            <a:r>
              <a:rPr lang="en-US" sz="3600" b="1" dirty="0">
                <a:solidFill>
                  <a:schemeClr val="bg1"/>
                </a:solidFill>
                <a:latin typeface="Times New Roman" panose="02020603050405020304" pitchFamily="18" charset="0"/>
                <a:cs typeface="Times New Roman" panose="02020603050405020304" pitchFamily="18" charset="0"/>
              </a:rPr>
              <a:t>Trends in Health, Baby &amp; Beauty Segments</a:t>
            </a:r>
            <a:endParaRPr sz="36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1"/>
            <a:ext cx="9848489" cy="230828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IN" b="1" dirty="0">
                <a:latin typeface="Times New Roman" panose="02020603050405020304" pitchFamily="18" charset="0"/>
                <a:ea typeface="Calibri"/>
                <a:cs typeface="Times New Roman" panose="02020603050405020304" pitchFamily="18" charset="0"/>
                <a:sym typeface="Calibri"/>
              </a:rPr>
              <a:t>Team Members</a:t>
            </a:r>
          </a:p>
          <a:p>
            <a:pPr marL="742950" lvl="1" indent="-285750">
              <a:buClr>
                <a:schemeClr val="dk1"/>
              </a:buClr>
              <a:buSzPts val="1800"/>
              <a:buFont typeface="Arial"/>
              <a:buChar char="•"/>
            </a:pPr>
            <a:r>
              <a:rPr lang="en-IN" b="1" i="0" u="none" strike="noStrike" cap="none" dirty="0">
                <a:latin typeface="Times New Roman" panose="02020603050405020304" pitchFamily="18" charset="0"/>
                <a:ea typeface="Calibri"/>
                <a:cs typeface="Times New Roman" panose="02020603050405020304" pitchFamily="18" charset="0"/>
                <a:sym typeface="Calibri"/>
              </a:rPr>
              <a:t>Teemara Sai</a:t>
            </a:r>
          </a:p>
          <a:p>
            <a:pPr marL="742950" lvl="1" indent="-285750">
              <a:buClr>
                <a:schemeClr val="dk1"/>
              </a:buClr>
              <a:buSzPts val="1800"/>
              <a:buFont typeface="Arial"/>
              <a:buChar char="•"/>
            </a:pPr>
            <a:r>
              <a:rPr lang="en-IN" b="1" dirty="0">
                <a:latin typeface="Times New Roman" panose="02020603050405020304" pitchFamily="18" charset="0"/>
                <a:ea typeface="Calibri"/>
                <a:cs typeface="Times New Roman" panose="02020603050405020304" pitchFamily="18" charset="0"/>
                <a:sym typeface="Calibri"/>
              </a:rPr>
              <a:t>Lokesh</a:t>
            </a:r>
          </a:p>
          <a:p>
            <a:pPr lvl="1">
              <a:buClr>
                <a:schemeClr val="dk1"/>
              </a:buClr>
              <a:buSzPts val="1800"/>
            </a:pPr>
            <a:endParaRPr b="1" i="0" u="none" strike="noStrike" cap="none" dirty="0">
              <a:solidFill>
                <a:schemeClr val="dk1"/>
              </a:solidFill>
              <a:latin typeface="Calibri"/>
              <a:ea typeface="Calibri"/>
              <a:cs typeface="Calibri"/>
              <a:sym typeface="Calibri"/>
            </a:endParaRPr>
          </a:p>
          <a:p>
            <a:pPr marL="285750" indent="-285750">
              <a:buClr>
                <a:schemeClr val="dk1"/>
              </a:buClr>
              <a:buSzPts val="1800"/>
              <a:buFont typeface="Arial"/>
              <a:buChar char="•"/>
            </a:pPr>
            <a:r>
              <a:rPr lang="en-IN" b="1" dirty="0">
                <a:solidFill>
                  <a:schemeClr val="dk1"/>
                </a:solidFill>
                <a:latin typeface="Calibri"/>
                <a:ea typeface="Calibri"/>
                <a:cs typeface="Calibri"/>
                <a:sym typeface="Calibri"/>
              </a:rPr>
              <a:t>Background  (B-tech )</a:t>
            </a:r>
          </a:p>
          <a:p>
            <a:pPr marL="285750" indent="-285750">
              <a:buClr>
                <a:schemeClr val="dk1"/>
              </a:buClr>
              <a:buSzPts val="1800"/>
              <a:buFont typeface="Arial"/>
              <a:buChar char="•"/>
            </a:pPr>
            <a:r>
              <a:rPr lang="en-IN" b="1" dirty="0">
                <a:solidFill>
                  <a:schemeClr val="dk1"/>
                </a:solidFill>
                <a:latin typeface="Calibri"/>
                <a:ea typeface="Calibri"/>
                <a:cs typeface="Calibri"/>
                <a:sym typeface="Calibri"/>
              </a:rPr>
              <a:t>Why you want to learn Data Science</a:t>
            </a:r>
            <a:endParaRPr sz="1800" b="1" i="0"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i="0" u="none" strike="noStrike" cap="none" dirty="0">
                <a:solidFill>
                  <a:schemeClr val="dk1"/>
                </a:solidFill>
                <a:latin typeface="Calibri"/>
                <a:ea typeface="Calibri"/>
                <a:cs typeface="Calibri"/>
                <a:sym typeface="Calibri"/>
              </a:rPr>
              <a:t>Any work experience</a:t>
            </a:r>
            <a:endParaRPr sz="1800" b="1" i="0"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Calibri"/>
              <a:buChar char="•"/>
            </a:pPr>
            <a:r>
              <a:rPr lang="en-IN" sz="1800" b="1" dirty="0">
                <a:solidFill>
                  <a:schemeClr val="dk1"/>
                </a:solidFill>
                <a:latin typeface="Calibri"/>
                <a:ea typeface="Calibri"/>
                <a:cs typeface="Calibri"/>
                <a:sym typeface="Calibri"/>
              </a:rPr>
              <a:t>Share your </a:t>
            </a:r>
            <a:r>
              <a:rPr lang="en-IN" sz="1800" b="1" dirty="0" err="1">
                <a:solidFill>
                  <a:schemeClr val="dk1"/>
                </a:solidFill>
                <a:latin typeface="Calibri"/>
                <a:ea typeface="Calibri"/>
                <a:cs typeface="Calibri"/>
                <a:sym typeface="Calibri"/>
              </a:rPr>
              <a:t>linkedin</a:t>
            </a:r>
            <a:r>
              <a:rPr lang="en-IN" sz="1800" b="1" dirty="0">
                <a:solidFill>
                  <a:schemeClr val="dk1"/>
                </a:solidFill>
                <a:latin typeface="Calibri"/>
                <a:ea typeface="Calibri"/>
                <a:cs typeface="Calibri"/>
                <a:sym typeface="Calibri"/>
              </a:rPr>
              <a:t> and </a:t>
            </a:r>
            <a:r>
              <a:rPr lang="en-IN" sz="1800" b="1" dirty="0" err="1">
                <a:solidFill>
                  <a:schemeClr val="dk1"/>
                </a:solidFill>
                <a:latin typeface="Calibri"/>
                <a:ea typeface="Calibri"/>
                <a:cs typeface="Calibri"/>
                <a:sym typeface="Calibri"/>
              </a:rPr>
              <a:t>github</a:t>
            </a:r>
            <a:r>
              <a:rPr lang="en-IN" sz="1800" b="1" dirty="0">
                <a:solidFill>
                  <a:schemeClr val="dk1"/>
                </a:solidFill>
                <a:latin typeface="Calibri"/>
                <a:ea typeface="Calibri"/>
                <a:cs typeface="Calibri"/>
                <a:sym typeface="Calibri"/>
              </a:rPr>
              <a:t> profile </a:t>
            </a:r>
            <a:r>
              <a:rPr lang="en-IN" sz="1800" b="1" dirty="0" err="1">
                <a:solidFill>
                  <a:schemeClr val="dk1"/>
                </a:solidFill>
                <a:latin typeface="Calibri"/>
                <a:ea typeface="Calibri"/>
                <a:cs typeface="Calibri"/>
                <a:sym typeface="Calibri"/>
              </a:rPr>
              <a:t>urls</a:t>
            </a:r>
            <a:endParaRPr sz="1800" b="1"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CC68-F4A7-9DBA-1074-20654BAE2C88}"/>
              </a:ext>
            </a:extLst>
          </p:cNvPr>
          <p:cNvSpPr>
            <a:spLocks noGrp="1"/>
          </p:cNvSpPr>
          <p:nvPr>
            <p:ph type="title"/>
          </p:nvPr>
        </p:nvSpPr>
        <p:spPr>
          <a:xfrm>
            <a:off x="531130" y="264183"/>
            <a:ext cx="9289741" cy="848181"/>
          </a:xfrm>
        </p:spPr>
        <p:txBody>
          <a:bodyPr/>
          <a:lstStyle/>
          <a:p>
            <a:r>
              <a:rPr lang="en-IN" sz="32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F5DE0E17-6397-9DC7-0711-D4DC306FD4CB}"/>
              </a:ext>
            </a:extLst>
          </p:cNvPr>
          <p:cNvSpPr>
            <a:spLocks noGrp="1"/>
          </p:cNvSpPr>
          <p:nvPr>
            <p:ph idx="1"/>
          </p:nvPr>
        </p:nvSpPr>
        <p:spPr>
          <a:xfrm>
            <a:off x="636684" y="1112364"/>
            <a:ext cx="9404722" cy="5557101"/>
          </a:xfrm>
        </p:spPr>
        <p:txBody>
          <a:bodyPr>
            <a:normAutofit fontScale="62500" lnSpcReduction="20000"/>
          </a:bodyPr>
          <a:lstStyle/>
          <a:p>
            <a:r>
              <a:rPr lang="en-IN" sz="2900" dirty="0">
                <a:latin typeface="Times New Roman" panose="02020603050405020304" pitchFamily="18" charset="0"/>
                <a:cs typeface="Times New Roman" panose="02020603050405020304" pitchFamily="18" charset="0"/>
              </a:rPr>
              <a:t>1. Introduction</a:t>
            </a:r>
          </a:p>
          <a:p>
            <a:r>
              <a:rPr lang="en-IN" sz="2900" dirty="0">
                <a:latin typeface="Times New Roman" panose="02020603050405020304" pitchFamily="18" charset="0"/>
                <a:cs typeface="Times New Roman" panose="02020603050405020304" pitchFamily="18" charset="0"/>
              </a:rPr>
              <a:t>2.Process of Web Scraping</a:t>
            </a:r>
          </a:p>
          <a:p>
            <a:r>
              <a:rPr lang="en-IN" sz="2900" dirty="0">
                <a:latin typeface="Times New Roman" panose="02020603050405020304" pitchFamily="18" charset="0"/>
                <a:cs typeface="Times New Roman" panose="02020603050405020304" pitchFamily="18" charset="0"/>
              </a:rPr>
              <a:t>3.Project Objectives</a:t>
            </a:r>
          </a:p>
          <a:p>
            <a:r>
              <a:rPr lang="en-IN" sz="2900" dirty="0">
                <a:latin typeface="Times New Roman" panose="02020603050405020304" pitchFamily="18" charset="0"/>
                <a:cs typeface="Times New Roman" panose="02020603050405020304" pitchFamily="18" charset="0"/>
              </a:rPr>
              <a:t>4. Summary of the Data</a:t>
            </a:r>
          </a:p>
          <a:p>
            <a:r>
              <a:rPr lang="en-IN" sz="2900" dirty="0">
                <a:latin typeface="Times New Roman" panose="02020603050405020304" pitchFamily="18" charset="0"/>
                <a:cs typeface="Times New Roman" panose="02020603050405020304" pitchFamily="18" charset="0"/>
              </a:rPr>
              <a:t>5. Data Cleaning Steps</a:t>
            </a:r>
          </a:p>
          <a:p>
            <a:r>
              <a:rPr lang="en-IN" sz="2900" dirty="0">
                <a:latin typeface="Times New Roman" panose="02020603050405020304" pitchFamily="18" charset="0"/>
                <a:cs typeface="Times New Roman" panose="02020603050405020304" pitchFamily="18" charset="0"/>
              </a:rPr>
              <a:t>6. Data Manipulation Steps</a:t>
            </a:r>
          </a:p>
          <a:p>
            <a:r>
              <a:rPr lang="en-IN" sz="2900" dirty="0">
                <a:latin typeface="Times New Roman" panose="02020603050405020304" pitchFamily="18" charset="0"/>
                <a:cs typeface="Times New Roman" panose="02020603050405020304" pitchFamily="18" charset="0"/>
              </a:rPr>
              <a:t>7. Univariate Analysis Steps</a:t>
            </a:r>
          </a:p>
          <a:p>
            <a:pPr lvl="1"/>
            <a:r>
              <a:rPr lang="en-IN" sz="2900" dirty="0">
                <a:latin typeface="Times New Roman" panose="02020603050405020304" pitchFamily="18" charset="0"/>
                <a:cs typeface="Times New Roman" panose="02020603050405020304" pitchFamily="18" charset="0"/>
              </a:rPr>
              <a:t>Product Count Per Category</a:t>
            </a:r>
          </a:p>
          <a:p>
            <a:pPr lvl="1"/>
            <a:r>
              <a:rPr lang="en-IN" sz="2900" dirty="0">
                <a:latin typeface="Times New Roman" panose="02020603050405020304" pitchFamily="18" charset="0"/>
                <a:cs typeface="Times New Roman" panose="02020603050405020304" pitchFamily="18" charset="0"/>
              </a:rPr>
              <a:t>Stock Status Distribution</a:t>
            </a:r>
          </a:p>
          <a:p>
            <a:pPr lvl="1"/>
            <a:r>
              <a:rPr lang="en-IN" sz="2900" dirty="0">
                <a:latin typeface="Times New Roman" panose="02020603050405020304" pitchFamily="18" charset="0"/>
                <a:cs typeface="Times New Roman" panose="02020603050405020304" pitchFamily="18" charset="0"/>
              </a:rPr>
              <a:t>Distribution of Original Price and Final Price</a:t>
            </a:r>
          </a:p>
          <a:p>
            <a:r>
              <a:rPr lang="en-IN" sz="2900" dirty="0">
                <a:latin typeface="Times New Roman" panose="02020603050405020304" pitchFamily="18" charset="0"/>
                <a:cs typeface="Times New Roman" panose="02020603050405020304" pitchFamily="18" charset="0"/>
              </a:rPr>
              <a:t>8. Bivariate Analysis Steps</a:t>
            </a:r>
          </a:p>
          <a:p>
            <a:pPr lvl="1"/>
            <a:r>
              <a:rPr lang="en-US" sz="2900" dirty="0">
                <a:latin typeface="Times New Roman" panose="02020603050405020304" pitchFamily="18" charset="0"/>
                <a:cs typeface="Times New Roman" panose="02020603050405020304" pitchFamily="18" charset="0"/>
              </a:rPr>
              <a:t>Average Final Price by Category</a:t>
            </a:r>
          </a:p>
          <a:p>
            <a:pPr lvl="1"/>
            <a:r>
              <a:rPr lang="en-IN" sz="2900" dirty="0">
                <a:latin typeface="Times New Roman" panose="02020603050405020304" pitchFamily="18" charset="0"/>
                <a:cs typeface="Times New Roman" panose="02020603050405020304" pitchFamily="18" charset="0"/>
              </a:rPr>
              <a:t>Average Reviews per Category</a:t>
            </a:r>
          </a:p>
          <a:p>
            <a:pPr lvl="1"/>
            <a:r>
              <a:rPr lang="en-US" sz="2900" dirty="0">
                <a:latin typeface="Times New Roman" panose="02020603050405020304" pitchFamily="18" charset="0"/>
                <a:cs typeface="Times New Roman" panose="02020603050405020304" pitchFamily="18" charset="0"/>
              </a:rPr>
              <a:t>Offer Percentage vs Final Price</a:t>
            </a:r>
            <a:endParaRPr lang="en-IN" sz="2900" dirty="0">
              <a:latin typeface="Times New Roman" panose="02020603050405020304" pitchFamily="18" charset="0"/>
              <a:cs typeface="Times New Roman" panose="02020603050405020304" pitchFamily="18" charset="0"/>
            </a:endParaRPr>
          </a:p>
          <a:p>
            <a:r>
              <a:rPr lang="en-IN" sz="2900" dirty="0">
                <a:latin typeface="Times New Roman" panose="02020603050405020304" pitchFamily="18" charset="0"/>
                <a:cs typeface="Times New Roman" panose="02020603050405020304" pitchFamily="18" charset="0"/>
              </a:rPr>
              <a:t>9. Conclusion</a:t>
            </a:r>
          </a:p>
          <a:p>
            <a:r>
              <a:rPr lang="en-IN" sz="2900" dirty="0">
                <a:latin typeface="Times New Roman" panose="02020603050405020304" pitchFamily="18" charset="0"/>
                <a:cs typeface="Times New Roman" panose="02020603050405020304" pitchFamily="18" charset="0"/>
              </a:rPr>
              <a:t>10. Experience and Challenges</a:t>
            </a:r>
            <a:endParaRPr lang="en-IN" sz="2900" dirty="0"/>
          </a:p>
          <a:p>
            <a:endParaRPr lang="en-IN" dirty="0"/>
          </a:p>
          <a:p>
            <a:endParaRPr lang="en-IN" dirty="0"/>
          </a:p>
        </p:txBody>
      </p:sp>
    </p:spTree>
    <p:extLst>
      <p:ext uri="{BB962C8B-B14F-4D97-AF65-F5344CB8AC3E}">
        <p14:creationId xmlns:p14="http://schemas.microsoft.com/office/powerpoint/2010/main" val="1352421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E0610-F415-7BDD-67A3-C2139A6E5DCA}"/>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579684C-EEAE-2A15-58EE-BAB865FAB5BC}"/>
              </a:ext>
            </a:extLst>
          </p:cNvPr>
          <p:cNvSpPr>
            <a:spLocks noGrp="1"/>
          </p:cNvSpPr>
          <p:nvPr>
            <p:ph idx="1"/>
          </p:nvPr>
        </p:nvSpPr>
        <p:spPr>
          <a:xfrm>
            <a:off x="646111" y="1140642"/>
            <a:ext cx="11127967" cy="5420414"/>
          </a:xfrm>
        </p:spPr>
        <p:txBody>
          <a:bodyPr>
            <a:normAutofit/>
          </a:bodyPr>
          <a:lstStyle/>
          <a:p>
            <a:endParaRPr lang="en-US" sz="2400" dirty="0"/>
          </a:p>
          <a:p>
            <a:r>
              <a:rPr lang="en-US" sz="1800" dirty="0">
                <a:latin typeface="Times New Roman" panose="02020603050405020304" pitchFamily="18" charset="0"/>
                <a:cs typeface="Times New Roman" panose="02020603050405020304" pitchFamily="18" charset="0"/>
              </a:rPr>
              <a:t>Website scraping refers to the automated process of extracting data from websites.</a:t>
            </a:r>
          </a:p>
          <a:p>
            <a:r>
              <a:rPr lang="en-US" sz="1800" dirty="0">
                <a:latin typeface="Times New Roman" panose="02020603050405020304" pitchFamily="18" charset="0"/>
                <a:cs typeface="Times New Roman" panose="02020603050405020304" pitchFamily="18" charset="0"/>
              </a:rPr>
              <a:t>With the rise of the internet and the increasing amount of data available online, website scraping has become an essential tool for businesses and organizations to gather valuable insights and make data-driven decisions</a:t>
            </a:r>
          </a:p>
          <a:p>
            <a:r>
              <a:rPr lang="en-US" sz="1800" dirty="0">
                <a:latin typeface="Times New Roman" panose="02020603050405020304" pitchFamily="18" charset="0"/>
                <a:cs typeface="Times New Roman" panose="02020603050405020304" pitchFamily="18" charset="0"/>
              </a:rPr>
              <a:t>Dynamic website scraping refers to the process of extracting data from websites that use client-side scripting and asynchronous communication. Dynamic website scraping requires specialized tools and techniques to bypass the dynamic nature of websites and extract data effectively.</a:t>
            </a:r>
          </a:p>
          <a:p>
            <a:r>
              <a:rPr lang="en-US" sz="1800" dirty="0">
                <a:latin typeface="Times New Roman" panose="02020603050405020304" pitchFamily="18" charset="0"/>
                <a:cs typeface="Times New Roman" panose="02020603050405020304" pitchFamily="18" charset="0"/>
              </a:rPr>
              <a:t>Static website scraping refers to the process of extracting data from websites where the content is fixed and does not change dynamically.</a:t>
            </a:r>
          </a:p>
          <a:p>
            <a:pPr marL="114300" indent="0">
              <a:buNone/>
            </a:pPr>
            <a:endParaRPr lang="en-IN" sz="2400" dirty="0"/>
          </a:p>
        </p:txBody>
      </p:sp>
      <p:pic>
        <p:nvPicPr>
          <p:cNvPr id="1026" name="Picture 2" descr="web scrapping using Beautiful Soup ...">
            <a:extLst>
              <a:ext uri="{FF2B5EF4-FFF2-40B4-BE49-F238E27FC236}">
                <a16:creationId xmlns:a16="http://schemas.microsoft.com/office/drawing/2014/main" id="{408F4540-900C-3CFD-B4A7-CEA331BC34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3673" y="4616315"/>
            <a:ext cx="6477349" cy="153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416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8D79-6B3F-D31A-A3FF-9E8C2B60B786}"/>
              </a:ext>
            </a:extLst>
          </p:cNvPr>
          <p:cNvSpPr>
            <a:spLocks noGrp="1"/>
          </p:cNvSpPr>
          <p:nvPr>
            <p:ph type="title"/>
          </p:nvPr>
        </p:nvSpPr>
        <p:spPr>
          <a:xfrm>
            <a:off x="631596" y="546986"/>
            <a:ext cx="9419237" cy="801047"/>
          </a:xfrm>
        </p:spPr>
        <p:txBody>
          <a:bodyPr/>
          <a:lstStyle/>
          <a:p>
            <a:r>
              <a:rPr lang="en-IN" sz="3200" b="1" dirty="0">
                <a:latin typeface="Times New Roman" panose="02020603050405020304" pitchFamily="18" charset="0"/>
                <a:cs typeface="Times New Roman" panose="02020603050405020304" pitchFamily="18" charset="0"/>
              </a:rPr>
              <a:t>Process of Web Scraping</a:t>
            </a:r>
            <a:br>
              <a:rPr lang="en-US" dirty="0"/>
            </a:br>
            <a:br>
              <a:rPr lang="en-US" dirty="0"/>
            </a:br>
            <a:r>
              <a:rPr lang="en-IN" sz="1800" b="1" dirty="0">
                <a:solidFill>
                  <a:srgbClr val="FF0000"/>
                </a:solidFill>
                <a:latin typeface="Times New Roman" panose="02020603050405020304" pitchFamily="18" charset="0"/>
                <a:cs typeface="Times New Roman" panose="02020603050405020304" pitchFamily="18" charset="0"/>
              </a:rPr>
              <a:t>HTTP Request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 program makes an HTTP request to the target website’s server,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similar to how a browser requests a webpage. If permission is granted, the server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responds with the page’s HTML content.</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b="1" dirty="0">
                <a:solidFill>
                  <a:srgbClr val="FF0000"/>
                </a:solidFill>
                <a:latin typeface="Times New Roman" panose="02020603050405020304" pitchFamily="18" charset="0"/>
                <a:cs typeface="Times New Roman" panose="02020603050405020304" pitchFamily="18" charset="0"/>
              </a:rPr>
              <a:t>Get HTML Response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server sends back an HTML document containing the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website’s structure and content. This document includes tags, elements, and data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needed for extraction.</a:t>
            </a:r>
            <a:br>
              <a:rPr lang="en-US" sz="1800" dirty="0"/>
            </a:br>
            <a:br>
              <a:rPr lang="en-US" sz="1800" dirty="0"/>
            </a:br>
            <a:r>
              <a:rPr lang="en-IN" sz="1800" b="1" dirty="0">
                <a:solidFill>
                  <a:srgbClr val="FF0000"/>
                </a:solidFill>
                <a:latin typeface="Times New Roman" panose="02020603050405020304" pitchFamily="18" charset="0"/>
                <a:cs typeface="Times New Roman" panose="02020603050405020304" pitchFamily="18" charset="0"/>
              </a:rPr>
              <a:t>Parse HTML with Beautiful Soup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raw HTML is passed to Beautiful Soup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 Python library that converts it into a structured parse tree. The parser allows easy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navigation, search, and modification of the HTML elements.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b="1" dirty="0">
                <a:solidFill>
                  <a:srgbClr val="FF0000"/>
                </a:solidFill>
                <a:latin typeface="Times New Roman" panose="02020603050405020304" pitchFamily="18" charset="0"/>
                <a:cs typeface="Times New Roman" panose="02020603050405020304" pitchFamily="18" charset="0"/>
              </a:rPr>
              <a:t>Locate Tags &amp; Extract Data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Using Beautiful Soup, the program searches for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specific HTML tags, classes, or IDs containing the desired information.</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b="1" dirty="0">
                <a:solidFill>
                  <a:srgbClr val="FF0000"/>
                </a:solidFill>
                <a:latin typeface="Times New Roman" panose="02020603050405020304" pitchFamily="18" charset="0"/>
                <a:cs typeface="Times New Roman" panose="02020603050405020304" pitchFamily="18" charset="0"/>
              </a:rPr>
              <a:t>Store Data </a:t>
            </a:r>
            <a:r>
              <a:rPr lang="en-IN" sz="1800" dirty="0">
                <a:latin typeface="Times New Roman" panose="02020603050405020304" pitchFamily="18" charset="0"/>
                <a:cs typeface="Times New Roman" panose="02020603050405020304" pitchFamily="18" charset="0"/>
              </a:rPr>
              <a:t>: The </a:t>
            </a:r>
            <a:r>
              <a:rPr lang="en-US" sz="1800" dirty="0">
                <a:latin typeface="Times New Roman" panose="02020603050405020304" pitchFamily="18" charset="0"/>
                <a:cs typeface="Times New Roman" panose="02020603050405020304" pitchFamily="18" charset="0"/>
              </a:rPr>
              <a:t>dataset is saved to a CSV file</a:t>
            </a:r>
            <a:br>
              <a:rPr lang="en-IN" dirty="0"/>
            </a:br>
            <a:br>
              <a:rPr lang="en-US" dirty="0"/>
            </a:br>
            <a:br>
              <a:rPr lang="en-IN" dirty="0"/>
            </a:br>
            <a:br>
              <a:rPr lang="en-US"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IN" sz="1800" dirty="0"/>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2052" name="Picture 4" descr="High resolution colorful flowchart for web scraping steps">
            <a:extLst>
              <a:ext uri="{FF2B5EF4-FFF2-40B4-BE49-F238E27FC236}">
                <a16:creationId xmlns:a16="http://schemas.microsoft.com/office/drawing/2014/main" id="{F662E4D0-230F-B79A-6D78-43032CF98D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14359" y="1766151"/>
            <a:ext cx="2872949" cy="430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907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C812A-CD1D-A9DE-27DF-34AFD029F6C4}"/>
              </a:ext>
            </a:extLst>
          </p:cNvPr>
          <p:cNvSpPr>
            <a:spLocks noGrp="1"/>
          </p:cNvSpPr>
          <p:nvPr>
            <p:ph type="title"/>
          </p:nvPr>
        </p:nvSpPr>
        <p:spPr>
          <a:xfrm>
            <a:off x="837415" y="431113"/>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Project Objective</a:t>
            </a:r>
          </a:p>
        </p:txBody>
      </p:sp>
      <p:sp>
        <p:nvSpPr>
          <p:cNvPr id="3" name="Text Placeholder 2">
            <a:extLst>
              <a:ext uri="{FF2B5EF4-FFF2-40B4-BE49-F238E27FC236}">
                <a16:creationId xmlns:a16="http://schemas.microsoft.com/office/drawing/2014/main" id="{2B3152F4-CD93-A00D-E805-1DA67B68980B}"/>
              </a:ext>
            </a:extLst>
          </p:cNvPr>
          <p:cNvSpPr>
            <a:spLocks noGrp="1"/>
          </p:cNvSpPr>
          <p:nvPr>
            <p:ph idx="1"/>
          </p:nvPr>
        </p:nvSpPr>
        <p:spPr>
          <a:xfrm>
            <a:off x="555395" y="1578990"/>
            <a:ext cx="11199829" cy="4322189"/>
          </a:xfrm>
        </p:spPr>
        <p:txBody>
          <a:bodyPr>
            <a:normAutofit/>
          </a:bodyPr>
          <a:lstStyle/>
          <a:p>
            <a:r>
              <a:rPr lang="en-US" sz="1800" dirty="0">
                <a:latin typeface="Times New Roman" panose="02020603050405020304" pitchFamily="18" charset="0"/>
                <a:cs typeface="Times New Roman" panose="02020603050405020304" pitchFamily="18" charset="0"/>
              </a:rPr>
              <a:t>Our primary objective is to scrape, clean, and analyze product data from </a:t>
            </a:r>
            <a:r>
              <a:rPr lang="en-US" sz="1800" dirty="0" err="1">
                <a:latin typeface="Times New Roman" panose="02020603050405020304" pitchFamily="18" charset="0"/>
                <a:cs typeface="Times New Roman" panose="02020603050405020304" pitchFamily="18" charset="0"/>
              </a:rPr>
              <a:t>Nykaa</a:t>
            </a:r>
            <a:r>
              <a:rPr lang="en-US" sz="1800" dirty="0">
                <a:latin typeface="Times New Roman" panose="02020603050405020304" pitchFamily="18" charset="0"/>
                <a:cs typeface="Times New Roman" panose="02020603050405020304" pitchFamily="18" charset="0"/>
              </a:rPr>
              <a:t> to derive actionable business insights. This involves:</a:t>
            </a:r>
            <a:endParaRPr lang="en-IN" sz="18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B3D7FA3-DC09-DCAB-C1DA-9B77E15D22D1}"/>
              </a:ext>
            </a:extLst>
          </p:cNvPr>
          <p:cNvSpPr/>
          <p:nvPr/>
        </p:nvSpPr>
        <p:spPr>
          <a:xfrm>
            <a:off x="837415" y="2656001"/>
            <a:ext cx="3063711" cy="218701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800"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Structured Database</a:t>
            </a:r>
          </a:p>
          <a:p>
            <a:pPr algn="ctr"/>
            <a:endParaRPr lang="en-US" sz="1800" b="1" dirty="0">
              <a:solidFill>
                <a:schemeClr val="bg1"/>
              </a:solidFill>
            </a:endParaRPr>
          </a:p>
          <a:p>
            <a:pPr algn="ctr"/>
            <a:r>
              <a:rPr lang="en-US" sz="1600" dirty="0">
                <a:solidFill>
                  <a:schemeClr val="bg1"/>
                </a:solidFill>
                <a:latin typeface="Times New Roman" panose="02020603050405020304" pitchFamily="18" charset="0"/>
                <a:cs typeface="Times New Roman" panose="02020603050405020304" pitchFamily="18" charset="0"/>
              </a:rPr>
              <a:t>Creating a Clean and well –structured dataset by scraping raw product details and preprocessing for analysis</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5ACDAB4B-910E-4AC6-E11B-F918EF19F81A}"/>
              </a:ext>
            </a:extLst>
          </p:cNvPr>
          <p:cNvSpPr/>
          <p:nvPr/>
        </p:nvSpPr>
        <p:spPr>
          <a:xfrm>
            <a:off x="4358719" y="2646574"/>
            <a:ext cx="3365369" cy="218701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latin typeface="Times New Roman" panose="02020603050405020304" pitchFamily="18" charset="0"/>
                <a:cs typeface="Times New Roman" panose="02020603050405020304" pitchFamily="18" charset="0"/>
              </a:rPr>
              <a:t>Meaningful Analysis</a:t>
            </a:r>
          </a:p>
          <a:p>
            <a:pPr algn="ctr"/>
            <a:endParaRPr lang="en-IN" b="1" dirty="0"/>
          </a:p>
          <a:p>
            <a:pPr algn="ctr"/>
            <a:r>
              <a:rPr lang="en-US" sz="1600" dirty="0">
                <a:latin typeface="Times New Roman" panose="02020603050405020304" pitchFamily="18" charset="0"/>
                <a:cs typeface="Times New Roman" panose="02020603050405020304" pitchFamily="18" charset="0"/>
              </a:rPr>
              <a:t>Applying Exploratory Data Analysis (EDA) to uncover insights into pricing strategies, customer engagement, product demand, and cross-category comparisons.</a:t>
            </a:r>
            <a:endParaRPr lang="en-IN"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9E8AD61F-A6D7-4225-FDF7-13FC59FE31A7}"/>
              </a:ext>
            </a:extLst>
          </p:cNvPr>
          <p:cNvSpPr/>
          <p:nvPr/>
        </p:nvSpPr>
        <p:spPr>
          <a:xfrm>
            <a:off x="8115693" y="2646573"/>
            <a:ext cx="3454924" cy="21870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latin typeface="Times New Roman" panose="02020603050405020304" pitchFamily="18" charset="0"/>
                <a:cs typeface="Times New Roman" panose="02020603050405020304" pitchFamily="18" charset="0"/>
              </a:rPr>
              <a:t>Visualized Insights</a:t>
            </a:r>
          </a:p>
          <a:p>
            <a:pPr algn="ctr"/>
            <a:endParaRPr lang="en-IN" dirty="0"/>
          </a:p>
          <a:p>
            <a:pPr algn="ctr"/>
            <a:r>
              <a:rPr lang="en-US" sz="1600" dirty="0">
                <a:latin typeface="Times New Roman" panose="02020603050405020304" pitchFamily="18" charset="0"/>
                <a:cs typeface="Times New Roman" panose="02020603050405020304" pitchFamily="18" charset="0"/>
              </a:rPr>
              <a:t>Transforming product data into actionable visualizations to support data-driven decisions, optimize marketing strategies, and identify top-performing products.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47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22758-8A5B-21BF-7A7F-6E7348ADD5DC}"/>
              </a:ext>
            </a:extLst>
          </p:cNvPr>
          <p:cNvSpPr>
            <a:spLocks noGrp="1"/>
          </p:cNvSpPr>
          <p:nvPr>
            <p:ph type="title"/>
          </p:nvPr>
        </p:nvSpPr>
        <p:spPr>
          <a:xfrm>
            <a:off x="646111" y="452718"/>
            <a:ext cx="9289741" cy="753913"/>
          </a:xfrm>
        </p:spPr>
        <p:txBody>
          <a:bodyPr/>
          <a:lstStyle/>
          <a:p>
            <a:r>
              <a:rPr lang="en-US" sz="3200" b="1" dirty="0">
                <a:latin typeface="Times New Roman" panose="02020603050405020304" pitchFamily="18" charset="0"/>
                <a:cs typeface="Times New Roman" panose="02020603050405020304" pitchFamily="18" charset="0"/>
              </a:rPr>
              <a:t>📊 Summary of the Data</a:t>
            </a:r>
            <a:br>
              <a:rPr lang="en-US" b="1" dirty="0"/>
            </a:br>
            <a:endParaRPr lang="en-IN" dirty="0"/>
          </a:p>
        </p:txBody>
      </p:sp>
      <p:sp>
        <p:nvSpPr>
          <p:cNvPr id="3" name="Content Placeholder 2">
            <a:extLst>
              <a:ext uri="{FF2B5EF4-FFF2-40B4-BE49-F238E27FC236}">
                <a16:creationId xmlns:a16="http://schemas.microsoft.com/office/drawing/2014/main" id="{BC4BCD12-8F0A-354C-2E86-8A31C0D9EB05}"/>
              </a:ext>
            </a:extLst>
          </p:cNvPr>
          <p:cNvSpPr>
            <a:spLocks noGrp="1"/>
          </p:cNvSpPr>
          <p:nvPr>
            <p:ph idx="1"/>
          </p:nvPr>
        </p:nvSpPr>
        <p:spPr>
          <a:xfrm>
            <a:off x="778071" y="1338606"/>
            <a:ext cx="10635857" cy="5203596"/>
          </a:xfrm>
        </p:spPr>
        <p:txBody>
          <a:bodyPr>
            <a:normAutofit fontScale="25000" lnSpcReduction="20000"/>
          </a:bodyPr>
          <a:lstStyle/>
          <a:p>
            <a:r>
              <a:rPr lang="en-IN" sz="7200" b="1" dirty="0">
                <a:latin typeface="Times New Roman" panose="02020603050405020304" pitchFamily="18" charset="0"/>
                <a:cs typeface="Times New Roman" panose="02020603050405020304" pitchFamily="18" charset="0"/>
              </a:rPr>
              <a:t>Total Products </a:t>
            </a:r>
            <a:r>
              <a:rPr lang="en-IN" sz="7200" dirty="0">
                <a:latin typeface="Times New Roman" panose="02020603050405020304" pitchFamily="18" charset="0"/>
                <a:cs typeface="Times New Roman" panose="02020603050405020304" pitchFamily="18" charset="0"/>
              </a:rPr>
              <a:t>: 3,400+ items</a:t>
            </a:r>
          </a:p>
          <a:p>
            <a:r>
              <a:rPr lang="en-IN" sz="7200" b="1" dirty="0">
                <a:latin typeface="Times New Roman" panose="02020603050405020304" pitchFamily="18" charset="0"/>
                <a:cs typeface="Times New Roman" panose="02020603050405020304" pitchFamily="18" charset="0"/>
              </a:rPr>
              <a:t>Categories Covered </a:t>
            </a:r>
            <a:r>
              <a:rPr lang="en-IN" sz="7200" dirty="0">
                <a:latin typeface="Times New Roman" panose="02020603050405020304" pitchFamily="18" charset="0"/>
                <a:cs typeface="Times New Roman" panose="02020603050405020304" pitchFamily="18" charset="0"/>
              </a:rPr>
              <a:t>:</a:t>
            </a:r>
          </a:p>
          <a:p>
            <a:pPr lvl="1"/>
            <a:r>
              <a:rPr lang="en-IN" sz="7200" dirty="0">
                <a:latin typeface="Times New Roman" panose="02020603050405020304" pitchFamily="18" charset="0"/>
                <a:cs typeface="Times New Roman" panose="02020603050405020304" pitchFamily="18" charset="0"/>
              </a:rPr>
              <a:t>🧴 Beauty Products</a:t>
            </a:r>
          </a:p>
          <a:p>
            <a:pPr lvl="1"/>
            <a:r>
              <a:rPr lang="en-IN" sz="7200" dirty="0">
                <a:latin typeface="Times New Roman" panose="02020603050405020304" pitchFamily="18" charset="0"/>
                <a:cs typeface="Times New Roman" panose="02020603050405020304" pitchFamily="18" charset="0"/>
              </a:rPr>
              <a:t>👶 Baby Products</a:t>
            </a:r>
          </a:p>
          <a:p>
            <a:pPr lvl="1"/>
            <a:r>
              <a:rPr lang="en-IN" sz="7200" dirty="0">
                <a:latin typeface="Times New Roman" panose="02020603050405020304" pitchFamily="18" charset="0"/>
                <a:cs typeface="Times New Roman" panose="02020603050405020304" pitchFamily="18" charset="0"/>
              </a:rPr>
              <a:t>💪 Health Products</a:t>
            </a:r>
          </a:p>
          <a:p>
            <a:r>
              <a:rPr lang="en-IN" sz="7200" b="1" dirty="0">
                <a:latin typeface="Times New Roman" panose="02020603050405020304" pitchFamily="18" charset="0"/>
                <a:cs typeface="Times New Roman" panose="02020603050405020304" pitchFamily="18" charset="0"/>
              </a:rPr>
              <a:t>Key Columns :</a:t>
            </a:r>
          </a:p>
          <a:p>
            <a:pPr lvl="1"/>
            <a:r>
              <a:rPr lang="en-IN" sz="7200" b="1" dirty="0" err="1">
                <a:latin typeface="Times New Roman" panose="02020603050405020304" pitchFamily="18" charset="0"/>
                <a:cs typeface="Times New Roman" panose="02020603050405020304" pitchFamily="18" charset="0"/>
              </a:rPr>
              <a:t>Product_Name</a:t>
            </a:r>
            <a:r>
              <a:rPr lang="en-IN" sz="7200" b="1" dirty="0">
                <a:latin typeface="Times New Roman" panose="02020603050405020304" pitchFamily="18" charset="0"/>
                <a:cs typeface="Times New Roman" panose="02020603050405020304" pitchFamily="18" charset="0"/>
              </a:rPr>
              <a:t> </a:t>
            </a:r>
            <a:r>
              <a:rPr lang="en-IN" sz="7200" dirty="0">
                <a:latin typeface="Times New Roman" panose="02020603050405020304" pitchFamily="18" charset="0"/>
                <a:cs typeface="Times New Roman" panose="02020603050405020304" pitchFamily="18" charset="0"/>
              </a:rPr>
              <a:t>→ Product details</a:t>
            </a:r>
          </a:p>
          <a:p>
            <a:pPr lvl="1"/>
            <a:r>
              <a:rPr lang="en-IN" sz="7200" b="1" dirty="0" err="1">
                <a:latin typeface="Times New Roman" panose="02020603050405020304" pitchFamily="18" charset="0"/>
                <a:cs typeface="Times New Roman" panose="02020603050405020304" pitchFamily="18" charset="0"/>
              </a:rPr>
              <a:t>Original_Price</a:t>
            </a:r>
            <a:r>
              <a:rPr lang="en-IN" sz="7200" b="1" dirty="0">
                <a:latin typeface="Times New Roman" panose="02020603050405020304" pitchFamily="18" charset="0"/>
                <a:cs typeface="Times New Roman" panose="02020603050405020304" pitchFamily="18" charset="0"/>
              </a:rPr>
              <a:t> </a:t>
            </a:r>
            <a:r>
              <a:rPr lang="en-IN" sz="7200" dirty="0">
                <a:latin typeface="Times New Roman" panose="02020603050405020304" pitchFamily="18" charset="0"/>
                <a:cs typeface="Times New Roman" panose="02020603050405020304" pitchFamily="18" charset="0"/>
              </a:rPr>
              <a:t>→ Listed price</a:t>
            </a:r>
          </a:p>
          <a:p>
            <a:pPr lvl="1"/>
            <a:r>
              <a:rPr lang="en-IN" sz="7200" b="1" dirty="0" err="1">
                <a:latin typeface="Times New Roman" panose="02020603050405020304" pitchFamily="18" charset="0"/>
                <a:cs typeface="Times New Roman" panose="02020603050405020304" pitchFamily="18" charset="0"/>
              </a:rPr>
              <a:t>Final_Price</a:t>
            </a:r>
            <a:r>
              <a:rPr lang="en-IN" sz="7200" b="1" dirty="0">
                <a:latin typeface="Times New Roman" panose="02020603050405020304" pitchFamily="18" charset="0"/>
                <a:cs typeface="Times New Roman" panose="02020603050405020304" pitchFamily="18" charset="0"/>
              </a:rPr>
              <a:t> </a:t>
            </a:r>
            <a:r>
              <a:rPr lang="en-IN" sz="7200" dirty="0">
                <a:latin typeface="Times New Roman" panose="02020603050405020304" pitchFamily="18" charset="0"/>
                <a:cs typeface="Times New Roman" panose="02020603050405020304" pitchFamily="18" charset="0"/>
              </a:rPr>
              <a:t>→ Discounted price</a:t>
            </a:r>
          </a:p>
          <a:p>
            <a:pPr lvl="1"/>
            <a:r>
              <a:rPr lang="en-IN" sz="7200" b="1" dirty="0" err="1">
                <a:latin typeface="Times New Roman" panose="02020603050405020304" pitchFamily="18" charset="0"/>
                <a:cs typeface="Times New Roman" panose="02020603050405020304" pitchFamily="18" charset="0"/>
              </a:rPr>
              <a:t>Offer_Percentage</a:t>
            </a:r>
            <a:r>
              <a:rPr lang="en-IN" sz="7200" b="1" dirty="0">
                <a:latin typeface="Times New Roman" panose="02020603050405020304" pitchFamily="18" charset="0"/>
                <a:cs typeface="Times New Roman" panose="02020603050405020304" pitchFamily="18" charset="0"/>
              </a:rPr>
              <a:t>  </a:t>
            </a:r>
            <a:r>
              <a:rPr lang="en-IN" sz="7200" dirty="0">
                <a:latin typeface="Times New Roman" panose="02020603050405020304" pitchFamily="18" charset="0"/>
                <a:cs typeface="Times New Roman" panose="02020603050405020304" pitchFamily="18" charset="0"/>
              </a:rPr>
              <a:t>→ Discount offered</a:t>
            </a:r>
          </a:p>
          <a:p>
            <a:pPr lvl="1"/>
            <a:r>
              <a:rPr lang="en-IN" sz="7200" b="1" dirty="0">
                <a:latin typeface="Times New Roman" panose="02020603050405020304" pitchFamily="18" charset="0"/>
                <a:cs typeface="Times New Roman" panose="02020603050405020304" pitchFamily="18" charset="0"/>
              </a:rPr>
              <a:t>Reviews </a:t>
            </a:r>
            <a:r>
              <a:rPr lang="en-IN" sz="7200" dirty="0">
                <a:latin typeface="Times New Roman" panose="02020603050405020304" pitchFamily="18" charset="0"/>
                <a:cs typeface="Times New Roman" panose="02020603050405020304" pitchFamily="18" charset="0"/>
              </a:rPr>
              <a:t>→ Customer engagement</a:t>
            </a:r>
          </a:p>
          <a:p>
            <a:pPr lvl="1"/>
            <a:r>
              <a:rPr lang="en-IN" sz="7200" b="1" dirty="0">
                <a:latin typeface="Times New Roman" panose="02020603050405020304" pitchFamily="18" charset="0"/>
                <a:cs typeface="Times New Roman" panose="02020603050405020304" pitchFamily="18" charset="0"/>
              </a:rPr>
              <a:t>Tags </a:t>
            </a:r>
            <a:r>
              <a:rPr lang="en-IN" sz="7200" dirty="0">
                <a:latin typeface="Times New Roman" panose="02020603050405020304" pitchFamily="18" charset="0"/>
                <a:cs typeface="Times New Roman" panose="02020603050405020304" pitchFamily="18" charset="0"/>
              </a:rPr>
              <a:t>→ Labels like </a:t>
            </a:r>
            <a:r>
              <a:rPr lang="en-IN" sz="7200" i="1" dirty="0">
                <a:latin typeface="Times New Roman" panose="02020603050405020304" pitchFamily="18" charset="0"/>
                <a:cs typeface="Times New Roman" panose="02020603050405020304" pitchFamily="18" charset="0"/>
              </a:rPr>
              <a:t>AD, BESTSELLER, Unknown</a:t>
            </a:r>
          </a:p>
          <a:p>
            <a:pPr lvl="1"/>
            <a:r>
              <a:rPr lang="en-IN" sz="7200" b="1" dirty="0">
                <a:latin typeface="Times New Roman" panose="02020603050405020304" pitchFamily="18" charset="0"/>
                <a:cs typeface="Times New Roman" panose="02020603050405020304" pitchFamily="18" charset="0"/>
              </a:rPr>
              <a:t>Sizes</a:t>
            </a:r>
            <a:r>
              <a:rPr lang="en-IN" sz="7200" dirty="0">
                <a:latin typeface="Times New Roman" panose="02020603050405020304" pitchFamily="18" charset="0"/>
                <a:cs typeface="Times New Roman" panose="02020603050405020304" pitchFamily="18" charset="0"/>
              </a:rPr>
              <a:t> → Variants/shades count</a:t>
            </a:r>
          </a:p>
          <a:p>
            <a:pPr lvl="1"/>
            <a:r>
              <a:rPr lang="en-US" sz="7200" b="1" dirty="0">
                <a:latin typeface="Times New Roman" panose="02020603050405020304" pitchFamily="18" charset="0"/>
                <a:cs typeface="Times New Roman" panose="02020603050405020304" pitchFamily="18" charset="0"/>
              </a:rPr>
              <a:t>Stock</a:t>
            </a:r>
            <a:r>
              <a:rPr lang="en-US" sz="7200" dirty="0">
                <a:latin typeface="Times New Roman" panose="02020603050405020304" pitchFamily="18" charset="0"/>
                <a:cs typeface="Times New Roman" panose="02020603050405020304" pitchFamily="18" charset="0"/>
              </a:rPr>
              <a:t> → Availability (</a:t>
            </a:r>
            <a:r>
              <a:rPr lang="en-US" sz="7200" i="1" dirty="0">
                <a:latin typeface="Times New Roman" panose="02020603050405020304" pitchFamily="18" charset="0"/>
                <a:cs typeface="Times New Roman" panose="02020603050405020304" pitchFamily="18" charset="0"/>
              </a:rPr>
              <a:t>In Stock / Out Of Stock</a:t>
            </a:r>
            <a:r>
              <a:rPr lang="en-US" sz="7200" dirty="0">
                <a:latin typeface="Times New Roman" panose="02020603050405020304" pitchFamily="18" charset="0"/>
                <a:cs typeface="Times New Roman" panose="02020603050405020304" pitchFamily="18" charset="0"/>
              </a:rPr>
              <a:t>)</a:t>
            </a:r>
          </a:p>
          <a:p>
            <a:pPr lvl="1"/>
            <a:r>
              <a:rPr lang="en-US" sz="7200" b="1" dirty="0">
                <a:latin typeface="Times New Roman" panose="02020603050405020304" pitchFamily="18" charset="0"/>
                <a:cs typeface="Times New Roman" panose="02020603050405020304" pitchFamily="18" charset="0"/>
              </a:rPr>
              <a:t>Category</a:t>
            </a:r>
            <a:r>
              <a:rPr lang="en-US" sz="7200" dirty="0">
                <a:latin typeface="Times New Roman" panose="02020603050405020304" pitchFamily="18" charset="0"/>
                <a:cs typeface="Times New Roman" panose="02020603050405020304" pitchFamily="18" charset="0"/>
              </a:rPr>
              <a:t> → Dataset grouping (added by us)</a:t>
            </a:r>
            <a:endParaRPr lang="en-IN" sz="7200" dirty="0">
              <a:latin typeface="Times New Roman" panose="02020603050405020304" pitchFamily="18" charset="0"/>
              <a:cs typeface="Times New Roman" panose="02020603050405020304" pitchFamily="18" charset="0"/>
            </a:endParaRPr>
          </a:p>
          <a:p>
            <a:endParaRPr lang="en-IN" sz="4500" dirty="0"/>
          </a:p>
          <a:p>
            <a:endParaRPr lang="en-IN" dirty="0"/>
          </a:p>
          <a:p>
            <a:endParaRPr lang="en-IN" dirty="0"/>
          </a:p>
          <a:p>
            <a:pPr marL="0" indent="0">
              <a:buNone/>
            </a:pPr>
            <a:r>
              <a:rPr lang="en-IN" dirty="0"/>
              <a:t>        </a:t>
            </a:r>
          </a:p>
        </p:txBody>
      </p:sp>
      <p:pic>
        <p:nvPicPr>
          <p:cNvPr id="6" name="Picture 5">
            <a:extLst>
              <a:ext uri="{FF2B5EF4-FFF2-40B4-BE49-F238E27FC236}">
                <a16:creationId xmlns:a16="http://schemas.microsoft.com/office/drawing/2014/main" id="{D096902F-0B5A-9AE9-5BB7-8488187E51DF}"/>
              </a:ext>
            </a:extLst>
          </p:cNvPr>
          <p:cNvPicPr>
            <a:picLocks noChangeAspect="1"/>
          </p:cNvPicPr>
          <p:nvPr/>
        </p:nvPicPr>
        <p:blipFill>
          <a:blip r:embed="rId2"/>
          <a:stretch>
            <a:fillRect/>
          </a:stretch>
        </p:blipFill>
        <p:spPr>
          <a:xfrm>
            <a:off x="7198616" y="1527142"/>
            <a:ext cx="3036071" cy="4578493"/>
          </a:xfrm>
          <a:prstGeom prst="rect">
            <a:avLst/>
          </a:prstGeom>
        </p:spPr>
      </p:pic>
    </p:spTree>
    <p:extLst>
      <p:ext uri="{BB962C8B-B14F-4D97-AF65-F5344CB8AC3E}">
        <p14:creationId xmlns:p14="http://schemas.microsoft.com/office/powerpoint/2010/main" val="2586034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672B-B476-79CB-C4E0-F0D3FC16D323}"/>
              </a:ext>
            </a:extLst>
          </p:cNvPr>
          <p:cNvSpPr>
            <a:spLocks noGrp="1"/>
          </p:cNvSpPr>
          <p:nvPr>
            <p:ph type="title"/>
          </p:nvPr>
        </p:nvSpPr>
        <p:spPr>
          <a:xfrm>
            <a:off x="646111" y="452718"/>
            <a:ext cx="8946541" cy="650218"/>
          </a:xfrm>
        </p:spPr>
        <p:txBody>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Data Cleaning Steps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792929-5ECF-0408-4CA3-D26151079E68}"/>
              </a:ext>
            </a:extLst>
          </p:cNvPr>
          <p:cNvSpPr>
            <a:spLocks noGrp="1"/>
          </p:cNvSpPr>
          <p:nvPr>
            <p:ph idx="1"/>
          </p:nvPr>
        </p:nvSpPr>
        <p:spPr>
          <a:xfrm>
            <a:off x="886497" y="1602558"/>
            <a:ext cx="9586684" cy="4732254"/>
          </a:xfrm>
        </p:spPr>
        <p:txBody>
          <a:bodyPr>
            <a:normAutofit/>
          </a:bodyPr>
          <a:lstStyle/>
          <a:p>
            <a:r>
              <a:rPr lang="en-US" sz="1800" dirty="0">
                <a:latin typeface="Times New Roman" panose="02020603050405020304" pitchFamily="18" charset="0"/>
                <a:cs typeface="Times New Roman" panose="02020603050405020304" pitchFamily="18" charset="0"/>
              </a:rPr>
              <a:t>Removed unwanted symbols (₹, %, MRP:) from price &amp; discount columns.</a:t>
            </a:r>
          </a:p>
          <a:p>
            <a:r>
              <a:rPr lang="en-US" sz="1800" dirty="0">
                <a:latin typeface="Times New Roman" panose="02020603050405020304" pitchFamily="18" charset="0"/>
                <a:cs typeface="Times New Roman" panose="02020603050405020304" pitchFamily="18" charset="0"/>
              </a:rPr>
              <a:t>Converted </a:t>
            </a:r>
            <a:r>
              <a:rPr lang="en-US" sz="1800" dirty="0" err="1">
                <a:latin typeface="Times New Roman" panose="02020603050405020304" pitchFamily="18" charset="0"/>
                <a:cs typeface="Times New Roman" panose="02020603050405020304" pitchFamily="18" charset="0"/>
              </a:rPr>
              <a:t>Original_Price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Final_Price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Offer_Percentage</a:t>
            </a:r>
            <a:r>
              <a:rPr lang="en-US" sz="1800" dirty="0">
                <a:latin typeface="Times New Roman" panose="02020603050405020304" pitchFamily="18" charset="0"/>
                <a:cs typeface="Times New Roman" panose="02020603050405020304" pitchFamily="18" charset="0"/>
              </a:rPr>
              <a:t>, Sizes into numeric values.</a:t>
            </a:r>
          </a:p>
          <a:p>
            <a:r>
              <a:rPr lang="en-US" sz="1800" dirty="0">
                <a:latin typeface="Times New Roman" panose="02020603050405020304" pitchFamily="18" charset="0"/>
                <a:cs typeface="Times New Roman" panose="02020603050405020304" pitchFamily="18" charset="0"/>
              </a:rPr>
              <a:t>Added a new column Category (Health, Baby, Beauty).</a:t>
            </a:r>
          </a:p>
          <a:p>
            <a:r>
              <a:rPr lang="en-US" sz="1800" dirty="0">
                <a:latin typeface="Times New Roman" panose="02020603050405020304" pitchFamily="18" charset="0"/>
                <a:cs typeface="Times New Roman" panose="02020603050405020304" pitchFamily="18" charset="0"/>
              </a:rPr>
              <a:t>Ensured consistent datatypes for all columns.</a:t>
            </a:r>
          </a:p>
          <a:p>
            <a:r>
              <a:rPr lang="en-IN" sz="1800" dirty="0">
                <a:latin typeface="Times New Roman" panose="02020603050405020304" pitchFamily="18" charset="0"/>
                <a:cs typeface="Times New Roman" panose="02020603050405020304" pitchFamily="18" charset="0"/>
              </a:rPr>
              <a:t>Filled missing values:</a:t>
            </a:r>
          </a:p>
          <a:p>
            <a:pPr lvl="1"/>
            <a:r>
              <a:rPr lang="en-IN" dirty="0">
                <a:latin typeface="Times New Roman" panose="02020603050405020304" pitchFamily="18" charset="0"/>
                <a:cs typeface="Times New Roman" panose="02020603050405020304" pitchFamily="18" charset="0"/>
              </a:rPr>
              <a:t>Reviews → filled with 0.</a:t>
            </a:r>
          </a:p>
          <a:p>
            <a:pPr marL="457200" lvl="1" indent="0">
              <a:buNone/>
            </a:pPr>
            <a:r>
              <a:rPr lang="en-US" dirty="0">
                <a:latin typeface="Times New Roman" panose="02020603050405020304" pitchFamily="18" charset="0"/>
                <a:cs typeface="Times New Roman" panose="02020603050405020304" pitchFamily="18" charset="0"/>
              </a:rPr>
              <a:t>0-fill: Distribution looks natural → most products have very few reviews, some have very high (long tail).</a:t>
            </a:r>
            <a:endParaRPr lang="en-IN" dirty="0">
              <a:latin typeface="Times New Roman" panose="02020603050405020304" pitchFamily="18" charset="0"/>
              <a:cs typeface="Times New Roman" panose="02020603050405020304" pitchFamily="18" charset="0"/>
            </a:endParaRPr>
          </a:p>
          <a:p>
            <a:pPr lvl="1"/>
            <a:r>
              <a:rPr lang="en-US" dirty="0" err="1">
                <a:latin typeface="Times New Roman" panose="02020603050405020304" pitchFamily="18" charset="0"/>
                <a:cs typeface="Times New Roman" panose="02020603050405020304" pitchFamily="18" charset="0"/>
              </a:rPr>
              <a:t>Offer_Percentage</a:t>
            </a:r>
            <a:r>
              <a:rPr lang="en-US" dirty="0">
                <a:latin typeface="Times New Roman" panose="02020603050405020304" pitchFamily="18" charset="0"/>
                <a:cs typeface="Times New Roman" panose="02020603050405020304" pitchFamily="18" charset="0"/>
              </a:rPr>
              <a:t> → filled with 0.</a:t>
            </a:r>
          </a:p>
          <a:p>
            <a:pPr lvl="1"/>
            <a:r>
              <a:rPr lang="en-US" dirty="0">
                <a:latin typeface="Times New Roman" panose="02020603050405020304" pitchFamily="18" charset="0"/>
                <a:cs typeface="Times New Roman" panose="02020603050405020304" pitchFamily="18" charset="0"/>
              </a:rPr>
              <a:t>Sizes → filled with 1 (default).</a:t>
            </a:r>
          </a:p>
          <a:p>
            <a:pPr lvl="1"/>
            <a:r>
              <a:rPr lang="en-IN" dirty="0">
                <a:latin typeface="Times New Roman" panose="02020603050405020304" pitchFamily="18" charset="0"/>
                <a:cs typeface="Times New Roman" panose="02020603050405020304" pitchFamily="18" charset="0"/>
              </a:rPr>
              <a:t>Tags → filled with "Unknown".</a:t>
            </a:r>
          </a:p>
          <a:p>
            <a:pPr marL="457200" lvl="1" indent="0">
              <a:buNone/>
            </a:pPr>
            <a:endParaRPr lang="en-IN" dirty="0"/>
          </a:p>
        </p:txBody>
      </p:sp>
    </p:spTree>
    <p:extLst>
      <p:ext uri="{BB962C8B-B14F-4D97-AF65-F5344CB8AC3E}">
        <p14:creationId xmlns:p14="http://schemas.microsoft.com/office/powerpoint/2010/main" val="27587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4737-9CEB-C06F-034A-3225933F839B}"/>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Data Manipulation Steps</a:t>
            </a:r>
          </a:p>
        </p:txBody>
      </p:sp>
      <p:sp>
        <p:nvSpPr>
          <p:cNvPr id="3" name="Content Placeholder 2">
            <a:extLst>
              <a:ext uri="{FF2B5EF4-FFF2-40B4-BE49-F238E27FC236}">
                <a16:creationId xmlns:a16="http://schemas.microsoft.com/office/drawing/2014/main" id="{ADD1B565-9544-37B9-D078-104F4F16847E}"/>
              </a:ext>
            </a:extLst>
          </p:cNvPr>
          <p:cNvSpPr>
            <a:spLocks noGrp="1"/>
          </p:cNvSpPr>
          <p:nvPr>
            <p:ph idx="1"/>
          </p:nvPr>
        </p:nvSpPr>
        <p:spPr>
          <a:xfrm>
            <a:off x="726240" y="1722980"/>
            <a:ext cx="10208852" cy="4102786"/>
          </a:xfrm>
        </p:spPr>
        <p:txBody>
          <a:bodyPr>
            <a:normAutofit/>
          </a:bodyPr>
          <a:lstStyle/>
          <a:p>
            <a:r>
              <a:rPr lang="en-US" dirty="0">
                <a:latin typeface="Times New Roman" panose="02020603050405020304" pitchFamily="18" charset="0"/>
                <a:cs typeface="Times New Roman" panose="02020603050405020304" pitchFamily="18" charset="0"/>
              </a:rPr>
              <a:t>Merged </a:t>
            </a:r>
            <a:r>
              <a:rPr lang="en-US" b="1" dirty="0">
                <a:latin typeface="Times New Roman" panose="02020603050405020304" pitchFamily="18" charset="0"/>
                <a:cs typeface="Times New Roman" panose="02020603050405020304" pitchFamily="18" charset="0"/>
              </a:rPr>
              <a:t>3 datasets (Health, Baby, Beauty)</a:t>
            </a:r>
            <a:r>
              <a:rPr lang="en-US" dirty="0">
                <a:latin typeface="Times New Roman" panose="02020603050405020304" pitchFamily="18" charset="0"/>
                <a:cs typeface="Times New Roman" panose="02020603050405020304" pitchFamily="18" charset="0"/>
              </a:rPr>
              <a:t> into a single </a:t>
            </a:r>
            <a:r>
              <a:rPr lang="en-US" dirty="0" err="1">
                <a:latin typeface="Times New Roman" panose="02020603050405020304" pitchFamily="18" charset="0"/>
                <a:cs typeface="Times New Roman" panose="02020603050405020304" pitchFamily="18" charset="0"/>
              </a:rPr>
              <a:t>dataframe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Added a new column </a:t>
            </a:r>
            <a:r>
              <a:rPr lang="en-US" b="1" dirty="0">
                <a:latin typeface="Times New Roman" panose="02020603050405020304" pitchFamily="18" charset="0"/>
                <a:cs typeface="Times New Roman" panose="02020603050405020304" pitchFamily="18" charset="0"/>
              </a:rPr>
              <a:t>Category</a:t>
            </a:r>
            <a:r>
              <a:rPr lang="en-US" dirty="0">
                <a:latin typeface="Times New Roman" panose="02020603050405020304" pitchFamily="18" charset="0"/>
                <a:cs typeface="Times New Roman" panose="02020603050405020304" pitchFamily="18" charset="0"/>
              </a:rPr>
              <a:t> to identify product type.</a:t>
            </a:r>
          </a:p>
          <a:p>
            <a:r>
              <a:rPr lang="en-US" dirty="0">
                <a:latin typeface="Times New Roman" panose="02020603050405020304" pitchFamily="18" charset="0"/>
                <a:cs typeface="Times New Roman" panose="02020603050405020304" pitchFamily="18" charset="0"/>
              </a:rPr>
              <a:t>Created summary tables using </a:t>
            </a:r>
            <a:r>
              <a:rPr lang="en-US" b="1" dirty="0" err="1">
                <a:latin typeface="Times New Roman" panose="02020603050405020304" pitchFamily="18" charset="0"/>
                <a:cs typeface="Times New Roman" panose="02020603050405020304" pitchFamily="18" charset="0"/>
              </a:rPr>
              <a:t>groupby</a:t>
            </a:r>
            <a:r>
              <a:rPr lang="en-US" b="1" dirty="0">
                <a:latin typeface="Times New Roman" panose="02020603050405020304" pitchFamily="18" charset="0"/>
                <a:cs typeface="Times New Roman" panose="02020603050405020304" pitchFamily="18" charset="0"/>
              </a:rPr>
              <a:t> &amp; aggregation</a:t>
            </a:r>
            <a:r>
              <a:rPr lang="en-US" dirty="0">
                <a:latin typeface="Times New Roman" panose="02020603050405020304" pitchFamily="18" charset="0"/>
                <a:cs typeface="Times New Roman" panose="02020603050405020304" pitchFamily="18" charset="0"/>
              </a:rPr>
              <a:t> (mean, min, max).</a:t>
            </a:r>
          </a:p>
          <a:p>
            <a:r>
              <a:rPr lang="en-US" dirty="0">
                <a:latin typeface="Times New Roman" panose="02020603050405020304" pitchFamily="18" charset="0"/>
                <a:cs typeface="Times New Roman" panose="02020603050405020304" pitchFamily="18" charset="0"/>
              </a:rPr>
              <a:t>Sorted data to identify </a:t>
            </a:r>
            <a:r>
              <a:rPr lang="en-US" b="1" dirty="0">
                <a:latin typeface="Times New Roman" panose="02020603050405020304" pitchFamily="18" charset="0"/>
                <a:cs typeface="Times New Roman" panose="02020603050405020304" pitchFamily="18" charset="0"/>
              </a:rPr>
              <a:t>Top/Bottom products</a:t>
            </a:r>
            <a:r>
              <a:rPr lang="en-US" dirty="0">
                <a:latin typeface="Times New Roman" panose="02020603050405020304" pitchFamily="18" charset="0"/>
                <a:cs typeface="Times New Roman" panose="02020603050405020304" pitchFamily="18" charset="0"/>
              </a:rPr>
              <a:t> (based on Reviews, Discounts, Prices).</a:t>
            </a:r>
          </a:p>
          <a:p>
            <a:r>
              <a:rPr lang="en-US" dirty="0">
                <a:latin typeface="Times New Roman" panose="02020603050405020304" pitchFamily="18" charset="0"/>
                <a:cs typeface="Times New Roman" panose="02020603050405020304" pitchFamily="18" charset="0"/>
              </a:rPr>
              <a:t>Prepared subsets of data for analysis:</a:t>
            </a:r>
          </a:p>
          <a:p>
            <a:pPr lvl="1"/>
            <a:r>
              <a:rPr lang="en-US" sz="2000" dirty="0">
                <a:latin typeface="Times New Roman" panose="02020603050405020304" pitchFamily="18" charset="0"/>
                <a:cs typeface="Times New Roman" panose="02020603050405020304" pitchFamily="18" charset="0"/>
              </a:rPr>
              <a:t>Top 10 In-Stock products by reviews</a:t>
            </a:r>
          </a:p>
          <a:p>
            <a:pPr lvl="1"/>
            <a:r>
              <a:rPr lang="en-US" sz="2000" dirty="0">
                <a:latin typeface="Times New Roman" panose="02020603050405020304" pitchFamily="18" charset="0"/>
                <a:cs typeface="Times New Roman" panose="02020603050405020304" pitchFamily="18" charset="0"/>
              </a:rPr>
              <a:t>Top 10 Out-of-Stock products by reviews</a:t>
            </a:r>
          </a:p>
          <a:p>
            <a:pPr lvl="1"/>
            <a:r>
              <a:rPr lang="en-US" sz="2000" dirty="0">
                <a:latin typeface="Times New Roman" panose="02020603050405020304" pitchFamily="18" charset="0"/>
                <a:cs typeface="Times New Roman" panose="02020603050405020304" pitchFamily="18" charset="0"/>
              </a:rPr>
              <a:t>Products with maximum price per category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491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073C7-BA16-84BF-48B2-5732E0344B88}"/>
              </a:ext>
            </a:extLst>
          </p:cNvPr>
          <p:cNvSpPr>
            <a:spLocks noGrp="1"/>
          </p:cNvSpPr>
          <p:nvPr>
            <p:ph type="title"/>
          </p:nvPr>
        </p:nvSpPr>
        <p:spPr>
          <a:xfrm>
            <a:off x="646112" y="452718"/>
            <a:ext cx="9403742" cy="772767"/>
          </a:xfrm>
        </p:spPr>
        <p:txBody>
          <a:bodyPr/>
          <a:lstStyle/>
          <a:p>
            <a:r>
              <a:rPr lang="en-US" sz="3200" b="1" dirty="0">
                <a:latin typeface="Times New Roman" panose="02020603050405020304" pitchFamily="18" charset="0"/>
                <a:cs typeface="Times New Roman" panose="02020603050405020304" pitchFamily="18" charset="0"/>
              </a:rPr>
              <a:t>Top 10 Out-of-Stock products by reviews</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829507C-37E1-CBE2-9B36-7D8C4CB77192}"/>
              </a:ext>
            </a:extLst>
          </p:cNvPr>
          <p:cNvSpPr>
            <a:spLocks noGrp="1"/>
          </p:cNvSpPr>
          <p:nvPr>
            <p:ph idx="1"/>
          </p:nvPr>
        </p:nvSpPr>
        <p:spPr>
          <a:xfrm>
            <a:off x="877068" y="1638139"/>
            <a:ext cx="8946541" cy="4195481"/>
          </a:xfrm>
        </p:spPr>
        <p:txBody>
          <a:bodyPr/>
          <a:lstStyle/>
          <a:p>
            <a:r>
              <a:rPr lang="en-US" dirty="0">
                <a:latin typeface="Times New Roman" panose="02020603050405020304" pitchFamily="18" charset="0"/>
                <a:cs typeface="Times New Roman" panose="02020603050405020304" pitchFamily="18" charset="0"/>
              </a:rPr>
              <a:t>products that customers want but cannot buy right now.</a:t>
            </a:r>
            <a:endParaRPr lang="en-IN" dirty="0"/>
          </a:p>
          <a:p>
            <a:endParaRPr lang="en-IN" dirty="0"/>
          </a:p>
        </p:txBody>
      </p:sp>
      <p:pic>
        <p:nvPicPr>
          <p:cNvPr id="4" name="Picture 2">
            <a:extLst>
              <a:ext uri="{FF2B5EF4-FFF2-40B4-BE49-F238E27FC236}">
                <a16:creationId xmlns:a16="http://schemas.microsoft.com/office/drawing/2014/main" id="{5F76AE58-1783-935A-758E-C98E923F7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239" y="2146954"/>
            <a:ext cx="10293693" cy="4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599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B12E7-E8C0-8368-C3F8-43A5FAD5A493}"/>
              </a:ext>
            </a:extLst>
          </p:cNvPr>
          <p:cNvSpPr>
            <a:spLocks noGrp="1"/>
          </p:cNvSpPr>
          <p:nvPr>
            <p:ph type="title"/>
          </p:nvPr>
        </p:nvSpPr>
        <p:spPr>
          <a:xfrm>
            <a:off x="646111" y="452718"/>
            <a:ext cx="9534837" cy="744162"/>
          </a:xfrm>
        </p:spPr>
        <p:txBody>
          <a:bodyPr/>
          <a:lstStyle/>
          <a:p>
            <a:r>
              <a:rPr lang="en-US" sz="3200" b="1" dirty="0">
                <a:latin typeface="Times New Roman" panose="02020603050405020304" pitchFamily="18" charset="0"/>
                <a:cs typeface="Times New Roman" panose="02020603050405020304" pitchFamily="18" charset="0"/>
              </a:rPr>
              <a:t>Top 10 In-Stock products by reviews</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E18414C-3C47-E7F1-6081-3FDA5BAB4F5F}"/>
              </a:ext>
            </a:extLst>
          </p:cNvPr>
          <p:cNvSpPr>
            <a:spLocks noGrp="1"/>
          </p:cNvSpPr>
          <p:nvPr>
            <p:ph idx="1"/>
          </p:nvPr>
        </p:nvSpPr>
        <p:spPr>
          <a:xfrm>
            <a:off x="573649" y="1611984"/>
            <a:ext cx="10964760" cy="4882655"/>
          </a:xfrm>
        </p:spPr>
        <p:txBody>
          <a:bodyPr/>
          <a:lstStyle/>
          <a:p>
            <a:endParaRPr lang="en-IN" dirty="0"/>
          </a:p>
          <a:p>
            <a:endParaRPr lang="en-IN" dirty="0"/>
          </a:p>
        </p:txBody>
      </p:sp>
      <p:pic>
        <p:nvPicPr>
          <p:cNvPr id="9220" name="Picture 4">
            <a:extLst>
              <a:ext uri="{FF2B5EF4-FFF2-40B4-BE49-F238E27FC236}">
                <a16:creationId xmlns:a16="http://schemas.microsoft.com/office/drawing/2014/main" id="{F53A4F73-2F87-60D1-F69E-E355F10EA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851" y="1611984"/>
            <a:ext cx="10520313" cy="4647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434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5B5F6-AA4E-F3F0-7C9F-6CB72E829E2D}"/>
              </a:ext>
            </a:extLst>
          </p:cNvPr>
          <p:cNvSpPr>
            <a:spLocks noGrp="1"/>
          </p:cNvSpPr>
          <p:nvPr>
            <p:ph type="title"/>
          </p:nvPr>
        </p:nvSpPr>
        <p:spPr>
          <a:xfrm>
            <a:off x="646111" y="452718"/>
            <a:ext cx="9336875" cy="725633"/>
          </a:xfrm>
        </p:spPr>
        <p:txBody>
          <a:bodyPr/>
          <a:lstStyle/>
          <a:p>
            <a:r>
              <a:rPr lang="en-IN" sz="3200" b="1" dirty="0">
                <a:latin typeface="Times New Roman" panose="02020603050405020304" pitchFamily="18" charset="0"/>
                <a:cs typeface="Times New Roman" panose="02020603050405020304" pitchFamily="18" charset="0"/>
              </a:rPr>
              <a:t>Univariate Analysis Steps</a:t>
            </a:r>
          </a:p>
        </p:txBody>
      </p:sp>
      <p:sp>
        <p:nvSpPr>
          <p:cNvPr id="3" name="Content Placeholder 2">
            <a:extLst>
              <a:ext uri="{FF2B5EF4-FFF2-40B4-BE49-F238E27FC236}">
                <a16:creationId xmlns:a16="http://schemas.microsoft.com/office/drawing/2014/main" id="{C70206D7-40F6-51D4-164D-767D55BA8BE3}"/>
              </a:ext>
            </a:extLst>
          </p:cNvPr>
          <p:cNvSpPr>
            <a:spLocks noGrp="1"/>
          </p:cNvSpPr>
          <p:nvPr>
            <p:ph idx="1"/>
          </p:nvPr>
        </p:nvSpPr>
        <p:spPr>
          <a:xfrm>
            <a:off x="646111" y="1449602"/>
            <a:ext cx="10637774" cy="4856930"/>
          </a:xfrm>
        </p:spPr>
        <p:txBody>
          <a:bodyPr/>
          <a:lstStyle/>
          <a:p>
            <a:r>
              <a:rPr lang="en-US" sz="1800" b="1" dirty="0">
                <a:latin typeface="Times New Roman" panose="02020603050405020304" pitchFamily="18" charset="0"/>
                <a:cs typeface="Times New Roman" panose="02020603050405020304" pitchFamily="18" charset="0"/>
              </a:rPr>
              <a:t>Count</a:t>
            </a:r>
            <a:r>
              <a:rPr lang="en-US" sz="1800" dirty="0">
                <a:latin typeface="Times New Roman" panose="02020603050405020304" pitchFamily="18" charset="0"/>
                <a:cs typeface="Times New Roman" panose="02020603050405020304" pitchFamily="18" charset="0"/>
              </a:rPr>
              <a:t> how many products belong to each category.</a:t>
            </a:r>
          </a:p>
          <a:p>
            <a:r>
              <a:rPr lang="en-US" sz="1800" b="1" dirty="0">
                <a:latin typeface="Times New Roman" panose="02020603050405020304" pitchFamily="18" charset="0"/>
                <a:cs typeface="Times New Roman" panose="02020603050405020304" pitchFamily="18" charset="0"/>
              </a:rPr>
              <a:t>Beauty</a:t>
            </a:r>
            <a:r>
              <a:rPr lang="en-US" sz="1800" dirty="0">
                <a:latin typeface="Times New Roman" panose="02020603050405020304" pitchFamily="18" charset="0"/>
                <a:cs typeface="Times New Roman" panose="02020603050405020304" pitchFamily="18" charset="0"/>
              </a:rPr>
              <a:t> category has the </a:t>
            </a:r>
            <a:r>
              <a:rPr lang="en-US" sz="1800" b="1" dirty="0">
                <a:latin typeface="Times New Roman" panose="02020603050405020304" pitchFamily="18" charset="0"/>
                <a:cs typeface="Times New Roman" panose="02020603050405020304" pitchFamily="18" charset="0"/>
              </a:rPr>
              <a:t>highest number of products (~1700)</a:t>
            </a:r>
            <a:r>
              <a:rPr lang="en-US" sz="1800" dirty="0">
                <a:latin typeface="Times New Roman" panose="02020603050405020304" pitchFamily="18" charset="0"/>
                <a:cs typeface="Times New Roman" panose="02020603050405020304" pitchFamily="18" charset="0"/>
              </a:rPr>
              <a:t>, indicating a strong market focus.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31E58B7-B1FE-4885-B44D-799CFFAD027E}"/>
              </a:ext>
            </a:extLst>
          </p:cNvPr>
          <p:cNvPicPr>
            <a:picLocks noChangeAspect="1"/>
          </p:cNvPicPr>
          <p:nvPr/>
        </p:nvPicPr>
        <p:blipFill>
          <a:blip r:embed="rId2"/>
          <a:stretch>
            <a:fillRect/>
          </a:stretch>
        </p:blipFill>
        <p:spPr>
          <a:xfrm>
            <a:off x="2422689" y="2576349"/>
            <a:ext cx="6315958" cy="3730183"/>
          </a:xfrm>
          <a:prstGeom prst="rect">
            <a:avLst/>
          </a:prstGeom>
        </p:spPr>
      </p:pic>
    </p:spTree>
    <p:extLst>
      <p:ext uri="{BB962C8B-B14F-4D97-AF65-F5344CB8AC3E}">
        <p14:creationId xmlns:p14="http://schemas.microsoft.com/office/powerpoint/2010/main" val="1815687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D5B6-839E-BABF-A833-F4C860C6C734}"/>
              </a:ext>
            </a:extLst>
          </p:cNvPr>
          <p:cNvSpPr>
            <a:spLocks noGrp="1"/>
          </p:cNvSpPr>
          <p:nvPr>
            <p:ph type="title"/>
          </p:nvPr>
        </p:nvSpPr>
        <p:spPr>
          <a:xfrm>
            <a:off x="646112" y="452718"/>
            <a:ext cx="9355728" cy="819901"/>
          </a:xfrm>
        </p:spPr>
        <p:txBody>
          <a:bodyPr/>
          <a:lstStyle/>
          <a:p>
            <a:r>
              <a:rPr lang="en-IN" sz="3200" b="1" dirty="0">
                <a:latin typeface="Times New Roman" panose="02020603050405020304" pitchFamily="18" charset="0"/>
                <a:cs typeface="Times New Roman" panose="02020603050405020304" pitchFamily="18" charset="0"/>
              </a:rPr>
              <a:t>Stock Status Distribution</a:t>
            </a:r>
          </a:p>
        </p:txBody>
      </p:sp>
      <p:sp>
        <p:nvSpPr>
          <p:cNvPr id="3" name="Content Placeholder 2">
            <a:extLst>
              <a:ext uri="{FF2B5EF4-FFF2-40B4-BE49-F238E27FC236}">
                <a16:creationId xmlns:a16="http://schemas.microsoft.com/office/drawing/2014/main" id="{93F5787D-70ED-0635-72CB-F6F33960B050}"/>
              </a:ext>
            </a:extLst>
          </p:cNvPr>
          <p:cNvSpPr>
            <a:spLocks noGrp="1"/>
          </p:cNvSpPr>
          <p:nvPr>
            <p:ph idx="1"/>
          </p:nvPr>
        </p:nvSpPr>
        <p:spPr>
          <a:xfrm>
            <a:off x="646112" y="1696235"/>
            <a:ext cx="11071031" cy="4303105"/>
          </a:xfrm>
        </p:spPr>
        <p:txBody>
          <a:bodyPr/>
          <a:lstStyle/>
          <a:p>
            <a:r>
              <a:rPr lang="en-US" sz="1800" dirty="0">
                <a:latin typeface="Times New Roman" panose="02020603050405020304" pitchFamily="18" charset="0"/>
                <a:cs typeface="Times New Roman" panose="02020603050405020304" pitchFamily="18" charset="0"/>
              </a:rPr>
              <a:t>In Stock vs Out of Stock distribution.</a:t>
            </a:r>
          </a:p>
          <a:p>
            <a:r>
              <a:rPr lang="en-US" sz="1800" dirty="0">
                <a:latin typeface="Times New Roman" panose="02020603050405020304" pitchFamily="18" charset="0"/>
                <a:cs typeface="Times New Roman" panose="02020603050405020304" pitchFamily="18" charset="0"/>
              </a:rPr>
              <a:t>Green slice (91.9%) → In Stock</a:t>
            </a:r>
          </a:p>
          <a:p>
            <a:pPr lvl="1"/>
            <a:r>
              <a:rPr lang="en-US" dirty="0">
                <a:latin typeface="Times New Roman" panose="02020603050405020304" pitchFamily="18" charset="0"/>
                <a:cs typeface="Times New Roman" panose="02020603050405020304" pitchFamily="18" charset="0"/>
              </a:rPr>
              <a:t>The vast majority of products are available.</a:t>
            </a:r>
          </a:p>
          <a:p>
            <a:r>
              <a:rPr lang="en-US" sz="1800" dirty="0">
                <a:latin typeface="Times New Roman" panose="02020603050405020304" pitchFamily="18" charset="0"/>
                <a:cs typeface="Times New Roman" panose="02020603050405020304" pitchFamily="18" charset="0"/>
              </a:rPr>
              <a:t>Red slice (8.1%) → Out of Stock</a:t>
            </a:r>
          </a:p>
          <a:p>
            <a:pPr lvl="1"/>
            <a:r>
              <a:rPr lang="en-US" dirty="0">
                <a:latin typeface="Times New Roman" panose="02020603050405020304" pitchFamily="18" charset="0"/>
                <a:cs typeface="Times New Roman" panose="02020603050405020304" pitchFamily="18" charset="0"/>
              </a:rPr>
              <a:t>A small portion of products are unavailable.</a:t>
            </a:r>
          </a:p>
          <a:p>
            <a:r>
              <a:rPr lang="en-IN" sz="1800" dirty="0">
                <a:latin typeface="Times New Roman" panose="02020603050405020304" pitchFamily="18" charset="0"/>
                <a:cs typeface="Times New Roman" panose="02020603050405020304" pitchFamily="18" charset="0"/>
              </a:rPr>
              <a:t>Insights</a:t>
            </a:r>
          </a:p>
          <a:p>
            <a:pPr lvl="1"/>
            <a:r>
              <a:rPr lang="en-US" dirty="0">
                <a:latin typeface="Times New Roman" panose="02020603050405020304" pitchFamily="18" charset="0"/>
                <a:cs typeface="Times New Roman" panose="02020603050405020304" pitchFamily="18" charset="0"/>
              </a:rPr>
              <a:t>Out of Stock (8.1%) → Still notable; could indicate:</a:t>
            </a:r>
          </a:p>
          <a:p>
            <a:pPr lvl="2"/>
            <a:r>
              <a:rPr lang="en-US" sz="1800" dirty="0">
                <a:latin typeface="Times New Roman" panose="02020603050405020304" pitchFamily="18" charset="0"/>
                <a:cs typeface="Times New Roman" panose="02020603050405020304" pitchFamily="18" charset="0"/>
              </a:rPr>
              <a:t>High demand for certain products.</a:t>
            </a:r>
          </a:p>
          <a:p>
            <a:pPr lvl="2"/>
            <a:r>
              <a:rPr lang="en-IN" sz="1800" dirty="0">
                <a:latin typeface="Times New Roman" panose="02020603050405020304" pitchFamily="18" charset="0"/>
                <a:cs typeface="Times New Roman" panose="02020603050405020304" pitchFamily="18" charset="0"/>
              </a:rPr>
              <a:t>Supply chain/stocking issues.</a:t>
            </a:r>
          </a:p>
          <a:p>
            <a:pPr lvl="2"/>
            <a:r>
              <a:rPr lang="en-IN" sz="1800" dirty="0">
                <a:latin typeface="Times New Roman" panose="02020603050405020304" pitchFamily="18" charset="0"/>
                <a:cs typeface="Times New Roman" panose="02020603050405020304" pitchFamily="18" charset="0"/>
              </a:rPr>
              <a:t>Seasonal trends.</a:t>
            </a:r>
            <a:endParaRPr lang="en-US" sz="1800"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30F09391-6F66-9724-A637-DAE2753BA43D}"/>
              </a:ext>
            </a:extLst>
          </p:cNvPr>
          <p:cNvPicPr>
            <a:picLocks noChangeAspect="1"/>
          </p:cNvPicPr>
          <p:nvPr/>
        </p:nvPicPr>
        <p:blipFill>
          <a:blip r:embed="rId2"/>
          <a:stretch>
            <a:fillRect/>
          </a:stretch>
        </p:blipFill>
        <p:spPr>
          <a:xfrm>
            <a:off x="6791520" y="1696235"/>
            <a:ext cx="4916637" cy="4016408"/>
          </a:xfrm>
          <a:prstGeom prst="rect">
            <a:avLst/>
          </a:prstGeom>
        </p:spPr>
      </p:pic>
    </p:spTree>
    <p:extLst>
      <p:ext uri="{BB962C8B-B14F-4D97-AF65-F5344CB8AC3E}">
        <p14:creationId xmlns:p14="http://schemas.microsoft.com/office/powerpoint/2010/main" val="371491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6A89-41FF-112B-9BB3-8C8168B27967}"/>
              </a:ext>
            </a:extLst>
          </p:cNvPr>
          <p:cNvSpPr>
            <a:spLocks noGrp="1"/>
          </p:cNvSpPr>
          <p:nvPr>
            <p:ph type="title"/>
          </p:nvPr>
        </p:nvSpPr>
        <p:spPr>
          <a:xfrm>
            <a:off x="646112" y="358220"/>
            <a:ext cx="9214325" cy="848412"/>
          </a:xfrm>
        </p:spPr>
        <p:txBody>
          <a:bodyPr/>
          <a:lstStyle/>
          <a:p>
            <a:r>
              <a:rPr lang="en-IN" sz="3200" b="1" dirty="0">
                <a:latin typeface="Times New Roman" panose="02020603050405020304" pitchFamily="18" charset="0"/>
                <a:cs typeface="Times New Roman" panose="02020603050405020304" pitchFamily="18" charset="0"/>
              </a:rPr>
              <a:t>Distribution of Original Price and Final Price</a:t>
            </a:r>
          </a:p>
        </p:txBody>
      </p:sp>
      <p:sp>
        <p:nvSpPr>
          <p:cNvPr id="3" name="Content Placeholder 2">
            <a:extLst>
              <a:ext uri="{FF2B5EF4-FFF2-40B4-BE49-F238E27FC236}">
                <a16:creationId xmlns:a16="http://schemas.microsoft.com/office/drawing/2014/main" id="{C100C41D-3700-828A-A2EC-7E8C22370FA9}"/>
              </a:ext>
            </a:extLst>
          </p:cNvPr>
          <p:cNvSpPr>
            <a:spLocks noGrp="1"/>
          </p:cNvSpPr>
          <p:nvPr>
            <p:ph idx="1"/>
          </p:nvPr>
        </p:nvSpPr>
        <p:spPr>
          <a:xfrm>
            <a:off x="665341" y="1206631"/>
            <a:ext cx="10514849" cy="5198651"/>
          </a:xfrm>
        </p:spPr>
        <p:txBody>
          <a:bodyPr>
            <a:normAutofit/>
          </a:bodyPr>
          <a:lstStyle/>
          <a:p>
            <a:r>
              <a:rPr lang="en-US" sz="1800" dirty="0">
                <a:latin typeface="Times New Roman" panose="02020603050405020304" pitchFamily="18" charset="0"/>
                <a:cs typeface="Times New Roman" panose="02020603050405020304" pitchFamily="18" charset="0"/>
              </a:rPr>
              <a:t>Most products are priced </a:t>
            </a:r>
            <a:r>
              <a:rPr lang="en-US" sz="1800" b="1" dirty="0">
                <a:latin typeface="Times New Roman" panose="02020603050405020304" pitchFamily="18" charset="0"/>
                <a:cs typeface="Times New Roman" panose="02020603050405020304" pitchFamily="18" charset="0"/>
              </a:rPr>
              <a:t>between 0 and 5,000</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Very few products have prices </a:t>
            </a:r>
            <a:r>
              <a:rPr lang="en-US" sz="1800" b="1" dirty="0">
                <a:latin typeface="Times New Roman" panose="02020603050405020304" pitchFamily="18" charset="0"/>
                <a:cs typeface="Times New Roman" panose="02020603050405020304" pitchFamily="18" charset="0"/>
              </a:rPr>
              <a:t>above 10,000</a:t>
            </a:r>
            <a:r>
              <a:rPr lang="en-US" sz="1800" dirty="0">
                <a:latin typeface="Times New Roman" panose="02020603050405020304" pitchFamily="18" charset="0"/>
                <a:cs typeface="Times New Roman" panose="02020603050405020304" pitchFamily="18" charset="0"/>
              </a:rPr>
              <a:t>, and almost none near 25,000.</a:t>
            </a:r>
          </a:p>
          <a:p>
            <a:r>
              <a:rPr lang="en-US" sz="1800" dirty="0">
                <a:latin typeface="Times New Roman" panose="02020603050405020304" pitchFamily="18" charset="0"/>
                <a:cs typeface="Times New Roman" panose="02020603050405020304" pitchFamily="18" charset="0"/>
              </a:rPr>
              <a:t>The distribution is </a:t>
            </a:r>
            <a:r>
              <a:rPr lang="en-US" sz="1800" b="1" dirty="0">
                <a:latin typeface="Times New Roman" panose="02020603050405020304" pitchFamily="18" charset="0"/>
                <a:cs typeface="Times New Roman" panose="02020603050405020304" pitchFamily="18" charset="0"/>
              </a:rPr>
              <a:t>right-skewed (positively skewed)</a:t>
            </a:r>
            <a:r>
              <a:rPr lang="en-US" sz="1800"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Long tail to the right → a few very expensive items pull the scale higher.</a:t>
            </a:r>
          </a:p>
          <a:p>
            <a:pPr lvl="1"/>
            <a:r>
              <a:rPr lang="en-US" dirty="0">
                <a:latin typeface="Times New Roman" panose="02020603050405020304" pitchFamily="18" charset="0"/>
                <a:cs typeface="Times New Roman" panose="02020603050405020304" pitchFamily="18" charset="0"/>
              </a:rPr>
              <a:t>That’s why the curve slopes down as the price increases.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AD82BE4-EBED-43D0-BA8E-B34C0992FA84}"/>
              </a:ext>
            </a:extLst>
          </p:cNvPr>
          <p:cNvPicPr>
            <a:picLocks noChangeAspect="1"/>
          </p:cNvPicPr>
          <p:nvPr/>
        </p:nvPicPr>
        <p:blipFill>
          <a:blip r:embed="rId2"/>
          <a:stretch>
            <a:fillRect/>
          </a:stretch>
        </p:blipFill>
        <p:spPr>
          <a:xfrm>
            <a:off x="1368244" y="3429000"/>
            <a:ext cx="4554521" cy="3297811"/>
          </a:xfrm>
          <a:prstGeom prst="rect">
            <a:avLst/>
          </a:prstGeom>
        </p:spPr>
      </p:pic>
      <p:pic>
        <p:nvPicPr>
          <p:cNvPr id="5" name="Picture 4">
            <a:extLst>
              <a:ext uri="{FF2B5EF4-FFF2-40B4-BE49-F238E27FC236}">
                <a16:creationId xmlns:a16="http://schemas.microsoft.com/office/drawing/2014/main" id="{FF5B1BE5-C531-9749-00F6-73064D9F05E7}"/>
              </a:ext>
            </a:extLst>
          </p:cNvPr>
          <p:cNvPicPr>
            <a:picLocks noChangeAspect="1"/>
          </p:cNvPicPr>
          <p:nvPr/>
        </p:nvPicPr>
        <p:blipFill>
          <a:blip r:embed="rId3"/>
          <a:stretch>
            <a:fillRect/>
          </a:stretch>
        </p:blipFill>
        <p:spPr>
          <a:xfrm>
            <a:off x="6450831" y="3429000"/>
            <a:ext cx="4554521" cy="3243748"/>
          </a:xfrm>
          <a:prstGeom prst="rect">
            <a:avLst/>
          </a:prstGeom>
        </p:spPr>
      </p:pic>
    </p:spTree>
    <p:extLst>
      <p:ext uri="{BB962C8B-B14F-4D97-AF65-F5344CB8AC3E}">
        <p14:creationId xmlns:p14="http://schemas.microsoft.com/office/powerpoint/2010/main" val="2747450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CB3D-D81E-F248-EAD5-D368BCE2650C}"/>
              </a:ext>
            </a:extLst>
          </p:cNvPr>
          <p:cNvSpPr>
            <a:spLocks noGrp="1"/>
          </p:cNvSpPr>
          <p:nvPr>
            <p:ph type="title"/>
          </p:nvPr>
        </p:nvSpPr>
        <p:spPr>
          <a:xfrm>
            <a:off x="646111" y="452718"/>
            <a:ext cx="9525411" cy="801047"/>
          </a:xfrm>
        </p:spPr>
        <p:txBody>
          <a:bodyPr/>
          <a:lstStyle/>
          <a:p>
            <a:r>
              <a:rPr lang="en-IN" sz="3200" b="1" dirty="0">
                <a:latin typeface="Times New Roman" panose="02020603050405020304" pitchFamily="18" charset="0"/>
                <a:cs typeface="Times New Roman" panose="02020603050405020304" pitchFamily="18" charset="0"/>
              </a:rPr>
              <a:t>Bivariate Analysis Steps</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Average Final Price by Category</a:t>
            </a:r>
            <a:br>
              <a:rPr lang="en-US" sz="3200"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B349CC-A195-5EE3-0263-BF6084DD2653}"/>
              </a:ext>
            </a:extLst>
          </p:cNvPr>
          <p:cNvSpPr>
            <a:spLocks noGrp="1"/>
          </p:cNvSpPr>
          <p:nvPr>
            <p:ph idx="1"/>
          </p:nvPr>
        </p:nvSpPr>
        <p:spPr>
          <a:xfrm>
            <a:off x="875497" y="1989055"/>
            <a:ext cx="11316503" cy="4496585"/>
          </a:xfrm>
        </p:spPr>
        <p:txBody>
          <a:bodyPr/>
          <a:lstStyle/>
          <a:p>
            <a:r>
              <a:rPr lang="en-US" sz="1800" dirty="0">
                <a:latin typeface="Times New Roman" panose="02020603050405020304" pitchFamily="18" charset="0"/>
                <a:cs typeface="Times New Roman" panose="02020603050405020304" pitchFamily="18" charset="0"/>
              </a:rPr>
              <a:t>This shows which category (Beauty, Baby, Health)  is costlier on average.</a:t>
            </a:r>
          </a:p>
          <a:p>
            <a:r>
              <a:rPr lang="en-IN" sz="1800" dirty="0">
                <a:latin typeface="Times New Roman" panose="02020603050405020304" pitchFamily="18" charset="0"/>
                <a:cs typeface="Times New Roman" panose="02020603050405020304" pitchFamily="18" charset="0"/>
              </a:rPr>
              <a:t>Baby Category (~600)</a:t>
            </a:r>
          </a:p>
          <a:p>
            <a:pPr lvl="1"/>
            <a:r>
              <a:rPr lang="en-IN" dirty="0">
                <a:latin typeface="Times New Roman" panose="02020603050405020304" pitchFamily="18" charset="0"/>
                <a:cs typeface="Times New Roman" panose="02020603050405020304" pitchFamily="18" charset="0"/>
              </a:rPr>
              <a:t>Lowest average final price.</a:t>
            </a:r>
          </a:p>
          <a:p>
            <a:r>
              <a:rPr lang="en-IN" sz="1800" dirty="0">
                <a:latin typeface="Times New Roman" panose="02020603050405020304" pitchFamily="18" charset="0"/>
                <a:cs typeface="Times New Roman" panose="02020603050405020304" pitchFamily="18" charset="0"/>
              </a:rPr>
              <a:t>Beauty Category (~3100)</a:t>
            </a:r>
          </a:p>
          <a:p>
            <a:pPr lvl="1"/>
            <a:r>
              <a:rPr lang="en-IN" dirty="0">
                <a:latin typeface="Times New Roman" panose="02020603050405020304" pitchFamily="18" charset="0"/>
                <a:cs typeface="Times New Roman" panose="02020603050405020304" pitchFamily="18" charset="0"/>
              </a:rPr>
              <a:t>Highest average final price.</a:t>
            </a:r>
          </a:p>
          <a:p>
            <a:r>
              <a:rPr lang="en-IN" sz="1800" dirty="0">
                <a:latin typeface="Times New Roman" panose="02020603050405020304" pitchFamily="18" charset="0"/>
                <a:cs typeface="Times New Roman" panose="02020603050405020304" pitchFamily="18" charset="0"/>
              </a:rPr>
              <a:t>Health Category (~2000)</a:t>
            </a:r>
          </a:p>
          <a:p>
            <a:r>
              <a:rPr lang="en-IN" sz="1800" dirty="0">
                <a:latin typeface="Times New Roman" panose="02020603050405020304" pitchFamily="18" charset="0"/>
                <a:cs typeface="Times New Roman" panose="02020603050405020304" pitchFamily="18" charset="0"/>
              </a:rPr>
              <a:t>Summary:</a:t>
            </a:r>
          </a:p>
          <a:p>
            <a:pPr lvl="1"/>
            <a:r>
              <a:rPr lang="en-IN" dirty="0">
                <a:latin typeface="Times New Roman" panose="02020603050405020304" pitchFamily="18" charset="0"/>
                <a:cs typeface="Times New Roman" panose="02020603050405020304" pitchFamily="18" charset="0"/>
              </a:rPr>
              <a:t>Baby → Cheapest (mass-market).</a:t>
            </a:r>
          </a:p>
          <a:p>
            <a:pPr lvl="1"/>
            <a:r>
              <a:rPr lang="en-IN" dirty="0">
                <a:latin typeface="Times New Roman" panose="02020603050405020304" pitchFamily="18" charset="0"/>
                <a:cs typeface="Times New Roman" panose="02020603050405020304" pitchFamily="18" charset="0"/>
              </a:rPr>
              <a:t>Beauty → Most expensive (premium).</a:t>
            </a:r>
          </a:p>
          <a:p>
            <a:pPr lvl="1"/>
            <a:r>
              <a:rPr lang="en-IN" dirty="0">
                <a:latin typeface="Times New Roman" panose="02020603050405020304" pitchFamily="18" charset="0"/>
                <a:cs typeface="Times New Roman" panose="02020603050405020304" pitchFamily="18" charset="0"/>
              </a:rPr>
              <a:t>Health → Middle range (balanced).</a:t>
            </a:r>
          </a:p>
          <a:p>
            <a:endParaRPr lang="en-IN" dirty="0"/>
          </a:p>
        </p:txBody>
      </p:sp>
      <p:pic>
        <p:nvPicPr>
          <p:cNvPr id="4" name="Picture 3">
            <a:extLst>
              <a:ext uri="{FF2B5EF4-FFF2-40B4-BE49-F238E27FC236}">
                <a16:creationId xmlns:a16="http://schemas.microsoft.com/office/drawing/2014/main" id="{588A46A4-F9C1-73AB-61D9-2DDD147F50D9}"/>
              </a:ext>
            </a:extLst>
          </p:cNvPr>
          <p:cNvPicPr>
            <a:picLocks noChangeAspect="1"/>
          </p:cNvPicPr>
          <p:nvPr/>
        </p:nvPicPr>
        <p:blipFill>
          <a:blip r:embed="rId2"/>
          <a:stretch>
            <a:fillRect/>
          </a:stretch>
        </p:blipFill>
        <p:spPr>
          <a:xfrm>
            <a:off x="6533748" y="2582945"/>
            <a:ext cx="5229225" cy="3724275"/>
          </a:xfrm>
          <a:prstGeom prst="rect">
            <a:avLst/>
          </a:prstGeom>
        </p:spPr>
      </p:pic>
    </p:spTree>
    <p:extLst>
      <p:ext uri="{BB962C8B-B14F-4D97-AF65-F5344CB8AC3E}">
        <p14:creationId xmlns:p14="http://schemas.microsoft.com/office/powerpoint/2010/main" val="2842834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DEC4-900B-87D4-D332-F2FA509980E5}"/>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Average Reviews per Category</a:t>
            </a:r>
            <a:br>
              <a:rPr lang="en-IN" dirty="0"/>
            </a:br>
            <a:endParaRPr lang="en-IN" dirty="0"/>
          </a:p>
        </p:txBody>
      </p:sp>
      <p:sp>
        <p:nvSpPr>
          <p:cNvPr id="3" name="Content Placeholder 2">
            <a:extLst>
              <a:ext uri="{FF2B5EF4-FFF2-40B4-BE49-F238E27FC236}">
                <a16:creationId xmlns:a16="http://schemas.microsoft.com/office/drawing/2014/main" id="{F467A161-938A-B815-7049-5A9D1E8E6967}"/>
              </a:ext>
            </a:extLst>
          </p:cNvPr>
          <p:cNvSpPr>
            <a:spLocks noGrp="1"/>
          </p:cNvSpPr>
          <p:nvPr>
            <p:ph idx="1"/>
          </p:nvPr>
        </p:nvSpPr>
        <p:spPr>
          <a:xfrm>
            <a:off x="586238" y="1638138"/>
            <a:ext cx="11159560" cy="4649540"/>
          </a:xfrm>
        </p:spPr>
        <p:txBody>
          <a:bodyPr>
            <a:normAutofit/>
          </a:bodyPr>
          <a:lstStyle/>
          <a:p>
            <a:r>
              <a:rPr lang="en-US" sz="1800" dirty="0">
                <a:latin typeface="Times New Roman" panose="02020603050405020304" pitchFamily="18" charset="0"/>
                <a:cs typeface="Times New Roman" panose="02020603050405020304" pitchFamily="18" charset="0"/>
              </a:rPr>
              <a:t>This will show which category customers engage with most (in terms of reviews).</a:t>
            </a:r>
          </a:p>
          <a:p>
            <a:r>
              <a:rPr lang="en-US" sz="1800" dirty="0">
                <a:latin typeface="Times New Roman" panose="02020603050405020304" pitchFamily="18" charset="0"/>
                <a:cs typeface="Times New Roman" panose="02020603050405020304" pitchFamily="18" charset="0"/>
              </a:rPr>
              <a:t>The Baby category has the highest average reviews, with a count over 800.</a:t>
            </a:r>
          </a:p>
          <a:p>
            <a:r>
              <a:rPr lang="en-US" sz="1800" dirty="0">
                <a:latin typeface="Times New Roman" panose="02020603050405020304" pitchFamily="18" charset="0"/>
                <a:cs typeface="Times New Roman" panose="02020603050405020304" pitchFamily="18" charset="0"/>
              </a:rPr>
              <a:t>The Beauty category is in the middle, with an average </a:t>
            </a:r>
          </a:p>
          <a:p>
            <a:pPr marL="0" indent="0">
              <a:buNone/>
            </a:pPr>
            <a:r>
              <a:rPr lang="en-US" sz="1800" dirty="0">
                <a:latin typeface="Times New Roman" panose="02020603050405020304" pitchFamily="18" charset="0"/>
                <a:cs typeface="Times New Roman" panose="02020603050405020304" pitchFamily="18" charset="0"/>
              </a:rPr>
              <a:t>       review count around 350.</a:t>
            </a:r>
          </a:p>
          <a:p>
            <a:r>
              <a:rPr lang="en-US" sz="1800" dirty="0">
                <a:latin typeface="Times New Roman" panose="02020603050405020304" pitchFamily="18" charset="0"/>
                <a:cs typeface="Times New Roman" panose="02020603050405020304" pitchFamily="18" charset="0"/>
              </a:rPr>
              <a:t>The Health category has the lowest, with an average </a:t>
            </a:r>
          </a:p>
          <a:p>
            <a:pPr marL="0" indent="0">
              <a:buNone/>
            </a:pPr>
            <a:r>
              <a:rPr lang="en-US" sz="1800" dirty="0">
                <a:latin typeface="Times New Roman" panose="02020603050405020304" pitchFamily="18" charset="0"/>
                <a:cs typeface="Times New Roman" panose="02020603050405020304" pitchFamily="18" charset="0"/>
              </a:rPr>
              <a:t>      review count close to 20.</a:t>
            </a:r>
          </a:p>
          <a:p>
            <a:r>
              <a:rPr lang="en-US" dirty="0"/>
              <a:t> </a:t>
            </a:r>
            <a:r>
              <a:rPr lang="en-US" sz="1800" dirty="0">
                <a:latin typeface="Times New Roman" panose="02020603050405020304" pitchFamily="18" charset="0"/>
                <a:cs typeface="Times New Roman" panose="02020603050405020304" pitchFamily="18" charset="0"/>
              </a:rPr>
              <a:t>This may indicate greater customer engagement and </a:t>
            </a:r>
          </a:p>
          <a:p>
            <a:pPr marL="0" indent="0">
              <a:buNone/>
            </a:pPr>
            <a:r>
              <a:rPr lang="en-US" sz="1800" dirty="0">
                <a:latin typeface="Times New Roman" panose="02020603050405020304" pitchFamily="18" charset="0"/>
                <a:cs typeface="Times New Roman" panose="02020603050405020304" pitchFamily="18" charset="0"/>
              </a:rPr>
              <a:t>        popularity in the Baby category, or that Baby products </a:t>
            </a:r>
          </a:p>
          <a:p>
            <a:pPr marL="0" indent="0">
              <a:buNone/>
            </a:pPr>
            <a:r>
              <a:rPr lang="en-US" sz="1800" dirty="0">
                <a:latin typeface="Times New Roman" panose="02020603050405020304" pitchFamily="18" charset="0"/>
                <a:cs typeface="Times New Roman" panose="02020603050405020304" pitchFamily="18" charset="0"/>
              </a:rPr>
              <a:t>        are purchased and reviewed more frequently than those</a:t>
            </a:r>
          </a:p>
          <a:p>
            <a:pPr marL="0" indent="0">
              <a:buNone/>
            </a:pPr>
            <a:r>
              <a:rPr lang="en-US" sz="1800" dirty="0">
                <a:latin typeface="Times New Roman" panose="02020603050405020304" pitchFamily="18" charset="0"/>
                <a:cs typeface="Times New Roman" panose="02020603050405020304" pitchFamily="18" charset="0"/>
              </a:rPr>
              <a:t>        in the other two categories.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p>
          <a:p>
            <a:pPr marL="0" indent="0">
              <a:buNone/>
            </a:pPr>
            <a:endParaRPr lang="en-US" dirty="0"/>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D1275A-AE5F-B20C-5452-96675164EA02}"/>
              </a:ext>
            </a:extLst>
          </p:cNvPr>
          <p:cNvPicPr>
            <a:picLocks noChangeAspect="1"/>
          </p:cNvPicPr>
          <p:nvPr/>
        </p:nvPicPr>
        <p:blipFill>
          <a:blip r:embed="rId2"/>
          <a:stretch>
            <a:fillRect/>
          </a:stretch>
        </p:blipFill>
        <p:spPr>
          <a:xfrm>
            <a:off x="6462262" y="2535123"/>
            <a:ext cx="5143500" cy="3724275"/>
          </a:xfrm>
          <a:prstGeom prst="rect">
            <a:avLst/>
          </a:prstGeom>
        </p:spPr>
      </p:pic>
    </p:spTree>
    <p:extLst>
      <p:ext uri="{BB962C8B-B14F-4D97-AF65-F5344CB8AC3E}">
        <p14:creationId xmlns:p14="http://schemas.microsoft.com/office/powerpoint/2010/main" val="2118955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72B63-DDEC-7DFF-C3D5-EF72E2311BB6}"/>
              </a:ext>
            </a:extLst>
          </p:cNvPr>
          <p:cNvSpPr>
            <a:spLocks noGrp="1"/>
          </p:cNvSpPr>
          <p:nvPr>
            <p:ph type="title"/>
          </p:nvPr>
        </p:nvSpPr>
        <p:spPr>
          <a:xfrm>
            <a:off x="726240" y="452718"/>
            <a:ext cx="9525411" cy="650218"/>
          </a:xfrm>
        </p:spPr>
        <p:txBody>
          <a:bodyPr/>
          <a:lstStyle/>
          <a:p>
            <a:r>
              <a:rPr lang="en-US" sz="3200" b="1" dirty="0">
                <a:latin typeface="Times New Roman" panose="02020603050405020304" pitchFamily="18" charset="0"/>
                <a:cs typeface="Times New Roman" panose="02020603050405020304" pitchFamily="18" charset="0"/>
              </a:rPr>
              <a:t>Offer Percentage vs Final Price</a:t>
            </a:r>
            <a:br>
              <a:rPr lang="en-US" dirty="0"/>
            </a:br>
            <a:endParaRPr lang="en-IN" dirty="0"/>
          </a:p>
        </p:txBody>
      </p:sp>
      <p:sp>
        <p:nvSpPr>
          <p:cNvPr id="3" name="Content Placeholder 2">
            <a:extLst>
              <a:ext uri="{FF2B5EF4-FFF2-40B4-BE49-F238E27FC236}">
                <a16:creationId xmlns:a16="http://schemas.microsoft.com/office/drawing/2014/main" id="{021B4DFE-3014-70B3-0EA8-872B862C67C8}"/>
              </a:ext>
            </a:extLst>
          </p:cNvPr>
          <p:cNvSpPr>
            <a:spLocks noGrp="1"/>
          </p:cNvSpPr>
          <p:nvPr>
            <p:ph idx="1"/>
          </p:nvPr>
        </p:nvSpPr>
        <p:spPr>
          <a:xfrm>
            <a:off x="726240" y="1647797"/>
            <a:ext cx="10510511" cy="4847271"/>
          </a:xfrm>
        </p:spPr>
        <p:txBody>
          <a:bodyPr>
            <a:normAutofit/>
          </a:bodyPr>
          <a:lstStyle/>
          <a:p>
            <a:r>
              <a:rPr lang="en-US" sz="1800" dirty="0">
                <a:latin typeface="Times New Roman" panose="02020603050405020304" pitchFamily="18" charset="0"/>
                <a:cs typeface="Times New Roman" panose="02020603050405020304" pitchFamily="18" charset="0"/>
              </a:rPr>
              <a:t>Most products cluster at lower offer percentages (0-20%) and lower final prices (below 5,000)</a:t>
            </a:r>
          </a:p>
          <a:p>
            <a:r>
              <a:rPr lang="en-US" sz="1800" dirty="0">
                <a:latin typeface="Times New Roman" panose="02020603050405020304" pitchFamily="18" charset="0"/>
                <a:cs typeface="Times New Roman" panose="02020603050405020304" pitchFamily="18" charset="0"/>
              </a:rPr>
              <a:t>Some products with very high prices have low offer percentages, while high offer percentages almost never result in high prices.</a:t>
            </a:r>
          </a:p>
          <a:p>
            <a:r>
              <a:rPr lang="en-US" sz="1800" dirty="0">
                <a:latin typeface="Times New Roman" panose="02020603050405020304" pitchFamily="18" charset="0"/>
                <a:cs typeface="Times New Roman" panose="02020603050405020304" pitchFamily="18" charset="0"/>
              </a:rPr>
              <a:t>Most products are concentrated at lower discounts </a:t>
            </a:r>
          </a:p>
          <a:p>
            <a:pPr marL="0" indent="0">
              <a:buNone/>
            </a:pPr>
            <a:r>
              <a:rPr lang="en-US" sz="1800" dirty="0">
                <a:latin typeface="Times New Roman" panose="02020603050405020304" pitchFamily="18" charset="0"/>
                <a:cs typeface="Times New Roman" panose="02020603050405020304" pitchFamily="18" charset="0"/>
              </a:rPr>
              <a:t>      and lower final prices.</a:t>
            </a:r>
          </a:p>
          <a:p>
            <a:r>
              <a:rPr lang="en-US" sz="1800" dirty="0">
                <a:latin typeface="Times New Roman" panose="02020603050405020304" pitchFamily="18" charset="0"/>
                <a:cs typeface="Times New Roman" panose="02020603050405020304" pitchFamily="18" charset="0"/>
              </a:rPr>
              <a:t>Outliers (high price at low discount) are easily </a:t>
            </a:r>
          </a:p>
          <a:p>
            <a:pPr marL="0" indent="0">
              <a:buNone/>
            </a:pPr>
            <a:r>
              <a:rPr lang="en-US" sz="1800" dirty="0">
                <a:latin typeface="Times New Roman" panose="02020603050405020304" pitchFamily="18" charset="0"/>
                <a:cs typeface="Times New Roman" panose="02020603050405020304" pitchFamily="18" charset="0"/>
              </a:rPr>
              <a:t>      identified using trendline.</a:t>
            </a:r>
          </a:p>
          <a:p>
            <a:r>
              <a:rPr lang="en-US" sz="1800" dirty="0">
                <a:latin typeface="Times New Roman" panose="02020603050405020304" pitchFamily="18" charset="0"/>
                <a:cs typeface="Times New Roman" panose="02020603050405020304" pitchFamily="18" charset="0"/>
              </a:rPr>
              <a:t>The trendline helps to visualize and understand the </a:t>
            </a:r>
          </a:p>
          <a:p>
            <a:pPr marL="0" indent="0">
              <a:buNone/>
            </a:pPr>
            <a:r>
              <a:rPr lang="en-US" sz="1800" dirty="0">
                <a:latin typeface="Times New Roman" panose="02020603050405020304" pitchFamily="18" charset="0"/>
                <a:cs typeface="Times New Roman" panose="02020603050405020304" pitchFamily="18" charset="0"/>
              </a:rPr>
              <a:t>       negative correlation between discounts and product</a:t>
            </a:r>
          </a:p>
          <a:p>
            <a:pPr marL="0" indent="0">
              <a:buNone/>
            </a:pPr>
            <a:r>
              <a:rPr lang="en-US" sz="1800" dirty="0">
                <a:latin typeface="Times New Roman" panose="02020603050405020304" pitchFamily="18" charset="0"/>
                <a:cs typeface="Times New Roman" panose="02020603050405020304" pitchFamily="18" charset="0"/>
              </a:rPr>
              <a:t>       prices more clearly.</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E299C18-56DD-4209-D98D-BB44BE2E1C91}"/>
              </a:ext>
            </a:extLst>
          </p:cNvPr>
          <p:cNvPicPr>
            <a:picLocks noChangeAspect="1"/>
          </p:cNvPicPr>
          <p:nvPr/>
        </p:nvPicPr>
        <p:blipFill>
          <a:blip r:embed="rId2"/>
          <a:stretch>
            <a:fillRect/>
          </a:stretch>
        </p:blipFill>
        <p:spPr>
          <a:xfrm>
            <a:off x="6096000" y="2623499"/>
            <a:ext cx="5555530" cy="3617045"/>
          </a:xfrm>
          <a:prstGeom prst="rect">
            <a:avLst/>
          </a:prstGeom>
        </p:spPr>
      </p:pic>
    </p:spTree>
    <p:extLst>
      <p:ext uri="{BB962C8B-B14F-4D97-AF65-F5344CB8AC3E}">
        <p14:creationId xmlns:p14="http://schemas.microsoft.com/office/powerpoint/2010/main" val="990345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BDD9-8401-E106-5054-7BB53BFB3B73}"/>
              </a:ext>
            </a:extLst>
          </p:cNvPr>
          <p:cNvSpPr>
            <a:spLocks noGrp="1"/>
          </p:cNvSpPr>
          <p:nvPr>
            <p:ph type="title"/>
          </p:nvPr>
        </p:nvSpPr>
        <p:spPr>
          <a:xfrm>
            <a:off x="646111" y="452718"/>
            <a:ext cx="9404723" cy="848181"/>
          </a:xfrm>
        </p:spPr>
        <p:txBody>
          <a:bodyPr/>
          <a:lstStyle/>
          <a:p>
            <a:r>
              <a:rPr lang="en-IN" sz="3200" b="1" dirty="0">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11094CFE-9F9A-F270-D8A3-583623DD33D8}"/>
              </a:ext>
            </a:extLst>
          </p:cNvPr>
          <p:cNvSpPr>
            <a:spLocks noGrp="1"/>
          </p:cNvSpPr>
          <p:nvPr>
            <p:ph idx="1"/>
          </p:nvPr>
        </p:nvSpPr>
        <p:spPr>
          <a:xfrm>
            <a:off x="646111" y="1638139"/>
            <a:ext cx="10260701" cy="4195481"/>
          </a:xfrm>
        </p:spPr>
        <p:txBody>
          <a:bodyPr>
            <a:normAutofit/>
          </a:bodyPr>
          <a:lstStyle/>
          <a:p>
            <a:r>
              <a:rPr lang="en-US" sz="1800" dirty="0">
                <a:latin typeface="Times New Roman" panose="02020603050405020304" pitchFamily="18" charset="0"/>
                <a:cs typeface="Times New Roman" panose="02020603050405020304" pitchFamily="18" charset="0"/>
              </a:rPr>
              <a:t>Majority of products belong to a beauty category.</a:t>
            </a:r>
          </a:p>
          <a:p>
            <a:r>
              <a:rPr lang="en-US" sz="1800" dirty="0">
                <a:latin typeface="Times New Roman" panose="02020603050405020304" pitchFamily="18" charset="0"/>
                <a:cs typeface="Times New Roman" panose="02020603050405020304" pitchFamily="18" charset="0"/>
              </a:rPr>
              <a:t>Discounts significantly impact final prices, showing a strong negative correlation.</a:t>
            </a:r>
          </a:p>
          <a:p>
            <a:r>
              <a:rPr lang="en-US" sz="1800" dirty="0">
                <a:latin typeface="Times New Roman" panose="02020603050405020304" pitchFamily="18" charset="0"/>
                <a:cs typeface="Times New Roman" panose="02020603050405020304" pitchFamily="18" charset="0"/>
              </a:rPr>
              <a:t>Categories differ in average, minimum, and maximum prices → indicating diverse pricing strategies.</a:t>
            </a:r>
          </a:p>
          <a:p>
            <a:r>
              <a:rPr lang="en-US" sz="1800" dirty="0">
                <a:latin typeface="Times New Roman" panose="02020603050405020304" pitchFamily="18" charset="0"/>
                <a:cs typeface="Times New Roman" panose="02020603050405020304" pitchFamily="18" charset="0"/>
              </a:rPr>
              <a:t>Some categories have more out-of-stock products, hinting at higher demand or supply issues.</a:t>
            </a:r>
          </a:p>
          <a:p>
            <a:r>
              <a:rPr lang="en-US" sz="1800" dirty="0">
                <a:latin typeface="Times New Roman" panose="02020603050405020304" pitchFamily="18" charset="0"/>
                <a:cs typeface="Times New Roman" panose="02020603050405020304" pitchFamily="18" charset="0"/>
              </a:rPr>
              <a:t>Products with high reviews often align with popular and trusted brands.</a:t>
            </a:r>
          </a:p>
          <a:p>
            <a:r>
              <a:rPr lang="en-IN" sz="1800" dirty="0">
                <a:latin typeface="Times New Roman" panose="02020603050405020304" pitchFamily="18" charset="0"/>
                <a:cs typeface="Times New Roman" panose="02020603050405020304" pitchFamily="18" charset="0"/>
              </a:rPr>
              <a:t>Key Finding:</a:t>
            </a:r>
          </a:p>
          <a:p>
            <a:pPr lvl="1"/>
            <a:r>
              <a:rPr lang="en-US" dirty="0">
                <a:latin typeface="Times New Roman" panose="02020603050405020304" pitchFamily="18" charset="0"/>
                <a:cs typeface="Times New Roman" panose="02020603050405020304" pitchFamily="18" charset="0"/>
              </a:rPr>
              <a:t>Customer demand, pricing, and stock availability are strongly linked to category and discount strategies.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810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7FA3-1BC0-42E1-85A5-EB7F06601F13}"/>
              </a:ext>
            </a:extLst>
          </p:cNvPr>
          <p:cNvSpPr>
            <a:spLocks noGrp="1"/>
          </p:cNvSpPr>
          <p:nvPr>
            <p:ph type="title"/>
          </p:nvPr>
        </p:nvSpPr>
        <p:spPr>
          <a:xfrm>
            <a:off x="646111" y="452718"/>
            <a:ext cx="9404723" cy="706779"/>
          </a:xfrm>
        </p:spPr>
        <p:txBody>
          <a:bodyPr/>
          <a:lstStyle/>
          <a:p>
            <a:r>
              <a:rPr lang="en-IN" sz="3200" b="1" dirty="0">
                <a:latin typeface="Times New Roman" panose="02020603050405020304" pitchFamily="18" charset="0"/>
                <a:cs typeface="Times New Roman" panose="02020603050405020304" pitchFamily="18" charset="0"/>
              </a:rPr>
              <a:t>Experience and Challenges</a:t>
            </a:r>
          </a:p>
        </p:txBody>
      </p:sp>
      <p:sp>
        <p:nvSpPr>
          <p:cNvPr id="3" name="Content Placeholder 2">
            <a:extLst>
              <a:ext uri="{FF2B5EF4-FFF2-40B4-BE49-F238E27FC236}">
                <a16:creationId xmlns:a16="http://schemas.microsoft.com/office/drawing/2014/main" id="{4D2EE102-CBAC-7678-0798-A870EB98ECEA}"/>
              </a:ext>
            </a:extLst>
          </p:cNvPr>
          <p:cNvSpPr>
            <a:spLocks noGrp="1"/>
          </p:cNvSpPr>
          <p:nvPr>
            <p:ph idx="1"/>
          </p:nvPr>
        </p:nvSpPr>
        <p:spPr>
          <a:xfrm>
            <a:off x="773373" y="1366887"/>
            <a:ext cx="10519937" cy="5038395"/>
          </a:xfrm>
        </p:spPr>
        <p:txBody>
          <a:bodyPr/>
          <a:lstStyle/>
          <a:p>
            <a:r>
              <a:rPr lang="en-IN" b="1" dirty="0">
                <a:latin typeface="Times New Roman" panose="02020603050405020304" pitchFamily="18" charset="0"/>
                <a:cs typeface="Times New Roman" panose="02020603050405020304" pitchFamily="18" charset="0"/>
              </a:rPr>
              <a:t>Experience :</a:t>
            </a:r>
          </a:p>
          <a:p>
            <a:pPr lvl="1"/>
            <a:r>
              <a:rPr lang="en-US" dirty="0">
                <a:latin typeface="Times New Roman" panose="02020603050405020304" pitchFamily="18" charset="0"/>
                <a:cs typeface="Times New Roman" panose="02020603050405020304" pitchFamily="18" charset="0"/>
              </a:rPr>
              <a:t>Gained hands-on exposure to web scraping techniques using </a:t>
            </a:r>
            <a:r>
              <a:rPr lang="en-US" dirty="0" err="1">
                <a:latin typeface="Times New Roman" panose="02020603050405020304" pitchFamily="18" charset="0"/>
                <a:cs typeface="Times New Roman" panose="02020603050405020304" pitchFamily="18" charset="0"/>
              </a:rPr>
              <a:t>BeautifulSoup</a:t>
            </a:r>
            <a:r>
              <a:rPr lang="en-US" dirty="0">
                <a:latin typeface="Times New Roman" panose="02020603050405020304" pitchFamily="18" charset="0"/>
                <a:cs typeface="Times New Roman" panose="02020603050405020304" pitchFamily="18" charset="0"/>
              </a:rPr>
              <a:t>/Requests.</a:t>
            </a:r>
          </a:p>
          <a:p>
            <a:pPr lvl="1"/>
            <a:r>
              <a:rPr lang="en-US" dirty="0">
                <a:latin typeface="Times New Roman" panose="02020603050405020304" pitchFamily="18" charset="0"/>
                <a:cs typeface="Times New Roman" panose="02020603050405020304" pitchFamily="18" charset="0"/>
              </a:rPr>
              <a:t>Understood how to clean and preprocess real-world data (handling missing values, duplicates, inconsistent formats).</a:t>
            </a:r>
          </a:p>
          <a:p>
            <a:pPr lvl="1"/>
            <a:r>
              <a:rPr lang="en-US" dirty="0">
                <a:latin typeface="Times New Roman" panose="02020603050405020304" pitchFamily="18" charset="0"/>
                <a:cs typeface="Times New Roman" panose="02020603050405020304" pitchFamily="18" charset="0"/>
              </a:rPr>
              <a:t>Learned to perform univariate, bivariate, and multivariate analysis to derive business insights.</a:t>
            </a:r>
          </a:p>
          <a:p>
            <a:pPr lvl="1"/>
            <a:r>
              <a:rPr lang="en-US" dirty="0">
                <a:latin typeface="Times New Roman" panose="02020603050405020304" pitchFamily="18" charset="0"/>
                <a:cs typeface="Times New Roman" panose="02020603050405020304" pitchFamily="18" charset="0"/>
              </a:rPr>
              <a:t>Improved skills in visualization (Matplotlib, Seaborn) to present findings effectively.</a:t>
            </a:r>
          </a:p>
          <a:p>
            <a:pPr lvl="1"/>
            <a:r>
              <a:rPr lang="en-US" dirty="0">
                <a:latin typeface="Times New Roman" panose="02020603050405020304" pitchFamily="18" charset="0"/>
                <a:cs typeface="Times New Roman" panose="02020603050405020304" pitchFamily="18" charset="0"/>
              </a:rPr>
              <a:t>Understood the importance of data-driven decision-making through analysis.</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Challenges :</a:t>
            </a:r>
          </a:p>
          <a:p>
            <a:pPr lvl="1"/>
            <a:r>
              <a:rPr lang="en-US" dirty="0">
                <a:latin typeface="Times New Roman" panose="02020603050405020304" pitchFamily="18" charset="0"/>
                <a:cs typeface="Times New Roman" panose="02020603050405020304" pitchFamily="18" charset="0"/>
              </a:rPr>
              <a:t>Handling dynamic websites where content loads via JavaScript (needed extra tools/logic).</a:t>
            </a:r>
          </a:p>
          <a:p>
            <a:pPr lvl="1"/>
            <a:r>
              <a:rPr lang="en-US" dirty="0">
                <a:latin typeface="Times New Roman" panose="02020603050405020304" pitchFamily="18" charset="0"/>
                <a:cs typeface="Times New Roman" panose="02020603050405020304" pitchFamily="18" charset="0"/>
              </a:rPr>
              <a:t>Had to deal with data cleaning complexities like removing symbols (₹, %, </a:t>
            </a:r>
            <a:r>
              <a:rPr lang="en-US" dirty="0" err="1">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Encountered inconsistent product information (e.g., missing prices, unknown tags).</a:t>
            </a:r>
          </a:p>
          <a:p>
            <a:pPr lvl="1"/>
            <a:r>
              <a:rPr lang="en-US" dirty="0">
                <a:latin typeface="Times New Roman" panose="02020603050405020304" pitchFamily="18" charset="0"/>
                <a:cs typeface="Times New Roman" panose="02020603050405020304" pitchFamily="18" charset="0"/>
              </a:rPr>
              <a:t>Choosing the right type of visualizations to clearly communicate insights.</a:t>
            </a:r>
          </a:p>
          <a:p>
            <a:pPr lvl="1"/>
            <a:endParaRPr lang="en-IN" dirty="0"/>
          </a:p>
        </p:txBody>
      </p:sp>
    </p:spTree>
    <p:extLst>
      <p:ext uri="{BB962C8B-B14F-4D97-AF65-F5344CB8AC3E}">
        <p14:creationId xmlns:p14="http://schemas.microsoft.com/office/powerpoint/2010/main" val="3145883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1074</TotalTime>
  <Words>1473</Words>
  <Application>Microsoft Office PowerPoint</Application>
  <PresentationFormat>Widescreen</PresentationFormat>
  <Paragraphs>167</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Times New Roman</vt:lpstr>
      <vt:lpstr>Calibri</vt:lpstr>
      <vt:lpstr>Arial</vt:lpstr>
      <vt:lpstr>Lato Black</vt:lpstr>
      <vt:lpstr>Libre Baskerville</vt:lpstr>
      <vt:lpstr>Wingdings 3</vt:lpstr>
      <vt:lpstr>Century Gothic</vt:lpstr>
      <vt:lpstr>Ion</vt:lpstr>
      <vt:lpstr>PowerPoint Presentation</vt:lpstr>
      <vt:lpstr>PowerPoint Presentation</vt:lpstr>
      <vt:lpstr>Contents:</vt:lpstr>
      <vt:lpstr>Introduction</vt:lpstr>
      <vt:lpstr>Process of Web Scraping  HTTP Request : A program makes an HTTP request to the target website’s server,  similar to how a browser requests a webpage. If permission is granted, the server  responds with the page’s HTML content.  Get HTML Response : The server sends back an HTML document containing the  website’s structure and content. This document includes tags, elements, and data  needed for extraction.  Parse HTML with Beautiful Soup : The raw HTML is passed to Beautiful Soup a Python library that converts it into a structured parse tree. The parser allows easy  navigation, search, and modification of the HTML elements.  Locate Tags &amp; Extract Data : Using Beautiful Soup, the program searches for  specific HTML tags, classes, or IDs containing the desired information.  Store Data : The dataset is saved to a CSV file           </vt:lpstr>
      <vt:lpstr>Project Objective</vt:lpstr>
      <vt:lpstr>📊 Summary of the Data </vt:lpstr>
      <vt:lpstr>🧹 Data Cleaning Steps</vt:lpstr>
      <vt:lpstr>Data Manipulation Steps</vt:lpstr>
      <vt:lpstr>Top 10 Out-of-Stock products by reviews </vt:lpstr>
      <vt:lpstr>Top 10 In-Stock products by reviews </vt:lpstr>
      <vt:lpstr>Univariate Analysis Steps</vt:lpstr>
      <vt:lpstr>Stock Status Distribution</vt:lpstr>
      <vt:lpstr>Distribution of Original Price and Final Price</vt:lpstr>
      <vt:lpstr>Bivariate Analysis Steps  Average Final Price by Category  </vt:lpstr>
      <vt:lpstr>Average Reviews per Category </vt:lpstr>
      <vt:lpstr>Offer Percentage vs Final Price </vt:lpstr>
      <vt:lpstr>Conclusion</vt:lpstr>
      <vt:lpstr>Experience and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Sai Teemara</cp:lastModifiedBy>
  <cp:revision>12</cp:revision>
  <dcterms:created xsi:type="dcterms:W3CDTF">2021-02-16T05:19:01Z</dcterms:created>
  <dcterms:modified xsi:type="dcterms:W3CDTF">2025-09-13T07:58:03Z</dcterms:modified>
</cp:coreProperties>
</file>